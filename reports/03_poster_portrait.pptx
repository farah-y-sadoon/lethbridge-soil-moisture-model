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
  </p:notesMasterIdLst>
  <p:sldIdLst>
    <p:sldId id="256" r:id="rId2"/>
  </p:sldIdLst>
  <p:sldSz cx="32004000" cy="4206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E7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63"/>
    <p:restoredTop sz="94719"/>
  </p:normalViewPr>
  <p:slideViewPr>
    <p:cSldViewPr snapToGrid="0">
      <p:cViewPr>
        <p:scale>
          <a:sx n="22" d="100"/>
          <a:sy n="22" d="100"/>
        </p:scale>
        <p:origin x="3904" y="584"/>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D9B79A-7721-A840-B733-0837202440F5}" type="datetimeFigureOut">
              <a:rPr lang="en-US" smtClean="0"/>
              <a:t>3/31/26</a:t>
            </a:fld>
            <a:endParaRPr lang="en-US"/>
          </a:p>
        </p:txBody>
      </p:sp>
      <p:sp>
        <p:nvSpPr>
          <p:cNvPr id="4" name="Slide Image Placeholder 3"/>
          <p:cNvSpPr>
            <a:spLocks noGrp="1" noRot="1" noChangeAspect="1"/>
          </p:cNvSpPr>
          <p:nvPr>
            <p:ph type="sldImg" idx="2"/>
          </p:nvPr>
        </p:nvSpPr>
        <p:spPr>
          <a:xfrm>
            <a:off x="2254250" y="1143000"/>
            <a:ext cx="23495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E094A0-3222-554F-A694-33649D464441}" type="slidenum">
              <a:rPr lang="en-US" smtClean="0"/>
              <a:t>‹#›</a:t>
            </a:fld>
            <a:endParaRPr lang="en-US"/>
          </a:p>
        </p:txBody>
      </p:sp>
    </p:spTree>
    <p:extLst>
      <p:ext uri="{BB962C8B-B14F-4D97-AF65-F5344CB8AC3E}">
        <p14:creationId xmlns:p14="http://schemas.microsoft.com/office/powerpoint/2010/main" val="2102726364"/>
      </p:ext>
    </p:extLst>
  </p:cSld>
  <p:clrMap bg1="lt1" tx1="dk1" bg2="lt2" tx2="dk2" accent1="accent1" accent2="accent2" accent3="accent3" accent4="accent4" accent5="accent5" accent6="accent6" hlink="hlink" folHlink="folHlink"/>
  <p:notesStyle>
    <a:lvl1pPr marL="0" algn="l" defTabSz="3555187" rtl="0" eaLnBrk="1" latinLnBrk="0" hangingPunct="1">
      <a:defRPr sz="4666" kern="1200">
        <a:solidFill>
          <a:schemeClr val="tx1"/>
        </a:solidFill>
        <a:latin typeface="+mn-lt"/>
        <a:ea typeface="+mn-ea"/>
        <a:cs typeface="+mn-cs"/>
      </a:defRPr>
    </a:lvl1pPr>
    <a:lvl2pPr marL="1777594" algn="l" defTabSz="3555187" rtl="0" eaLnBrk="1" latinLnBrk="0" hangingPunct="1">
      <a:defRPr sz="4666" kern="1200">
        <a:solidFill>
          <a:schemeClr val="tx1"/>
        </a:solidFill>
        <a:latin typeface="+mn-lt"/>
        <a:ea typeface="+mn-ea"/>
        <a:cs typeface="+mn-cs"/>
      </a:defRPr>
    </a:lvl2pPr>
    <a:lvl3pPr marL="3555187" algn="l" defTabSz="3555187" rtl="0" eaLnBrk="1" latinLnBrk="0" hangingPunct="1">
      <a:defRPr sz="4666" kern="1200">
        <a:solidFill>
          <a:schemeClr val="tx1"/>
        </a:solidFill>
        <a:latin typeface="+mn-lt"/>
        <a:ea typeface="+mn-ea"/>
        <a:cs typeface="+mn-cs"/>
      </a:defRPr>
    </a:lvl3pPr>
    <a:lvl4pPr marL="5332781" algn="l" defTabSz="3555187" rtl="0" eaLnBrk="1" latinLnBrk="0" hangingPunct="1">
      <a:defRPr sz="4666" kern="1200">
        <a:solidFill>
          <a:schemeClr val="tx1"/>
        </a:solidFill>
        <a:latin typeface="+mn-lt"/>
        <a:ea typeface="+mn-ea"/>
        <a:cs typeface="+mn-cs"/>
      </a:defRPr>
    </a:lvl4pPr>
    <a:lvl5pPr marL="7110374" algn="l" defTabSz="3555187" rtl="0" eaLnBrk="1" latinLnBrk="0" hangingPunct="1">
      <a:defRPr sz="4666" kern="1200">
        <a:solidFill>
          <a:schemeClr val="tx1"/>
        </a:solidFill>
        <a:latin typeface="+mn-lt"/>
        <a:ea typeface="+mn-ea"/>
        <a:cs typeface="+mn-cs"/>
      </a:defRPr>
    </a:lvl5pPr>
    <a:lvl6pPr marL="8887968" algn="l" defTabSz="3555187" rtl="0" eaLnBrk="1" latinLnBrk="0" hangingPunct="1">
      <a:defRPr sz="4666" kern="1200">
        <a:solidFill>
          <a:schemeClr val="tx1"/>
        </a:solidFill>
        <a:latin typeface="+mn-lt"/>
        <a:ea typeface="+mn-ea"/>
        <a:cs typeface="+mn-cs"/>
      </a:defRPr>
    </a:lvl6pPr>
    <a:lvl7pPr marL="10665562" algn="l" defTabSz="3555187" rtl="0" eaLnBrk="1" latinLnBrk="0" hangingPunct="1">
      <a:defRPr sz="4666" kern="1200">
        <a:solidFill>
          <a:schemeClr val="tx1"/>
        </a:solidFill>
        <a:latin typeface="+mn-lt"/>
        <a:ea typeface="+mn-ea"/>
        <a:cs typeface="+mn-cs"/>
      </a:defRPr>
    </a:lvl7pPr>
    <a:lvl8pPr marL="12443155" algn="l" defTabSz="3555187" rtl="0" eaLnBrk="1" latinLnBrk="0" hangingPunct="1">
      <a:defRPr sz="4666" kern="1200">
        <a:solidFill>
          <a:schemeClr val="tx1"/>
        </a:solidFill>
        <a:latin typeface="+mn-lt"/>
        <a:ea typeface="+mn-ea"/>
        <a:cs typeface="+mn-cs"/>
      </a:defRPr>
    </a:lvl8pPr>
    <a:lvl9pPr marL="14220749" algn="l" defTabSz="3555187" rtl="0" eaLnBrk="1" latinLnBrk="0" hangingPunct="1">
      <a:defRPr sz="466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0" y="1143000"/>
            <a:ext cx="2349500" cy="3086100"/>
          </a:xfrm>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6E094A0-3222-554F-A694-33649D464441}" type="slidenum">
              <a:rPr lang="en-US" smtClean="0"/>
              <a:t>1</a:t>
            </a:fld>
            <a:endParaRPr lang="en-US"/>
          </a:p>
        </p:txBody>
      </p:sp>
    </p:spTree>
    <p:extLst>
      <p:ext uri="{BB962C8B-B14F-4D97-AF65-F5344CB8AC3E}">
        <p14:creationId xmlns:p14="http://schemas.microsoft.com/office/powerpoint/2010/main" val="1318335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00300" y="6883826"/>
            <a:ext cx="27203400" cy="14643947"/>
          </a:xfrm>
        </p:spPr>
        <p:txBody>
          <a:bodyPr anchor="b"/>
          <a:lstStyle>
            <a:lvl1pPr algn="ctr">
              <a:defRPr sz="21000"/>
            </a:lvl1pPr>
          </a:lstStyle>
          <a:p>
            <a:r>
              <a:rPr lang="en-US"/>
              <a:t>Click to edit Master title style</a:t>
            </a:r>
            <a:endParaRPr lang="en-US" dirty="0"/>
          </a:p>
        </p:txBody>
      </p:sp>
      <p:sp>
        <p:nvSpPr>
          <p:cNvPr id="3" name="Subtitle 2"/>
          <p:cNvSpPr>
            <a:spLocks noGrp="1"/>
          </p:cNvSpPr>
          <p:nvPr>
            <p:ph type="subTitle" idx="1"/>
          </p:nvPr>
        </p:nvSpPr>
        <p:spPr>
          <a:xfrm>
            <a:off x="4000500" y="22092500"/>
            <a:ext cx="24003000" cy="10155340"/>
          </a:xfrm>
        </p:spPr>
        <p:txBody>
          <a:bodyPr/>
          <a:lstStyle>
            <a:lvl1pPr marL="0" indent="0" algn="ctr">
              <a:buNone/>
              <a:defRPr sz="8400"/>
            </a:lvl1pPr>
            <a:lvl2pPr marL="1600200" indent="0" algn="ctr">
              <a:buNone/>
              <a:defRPr sz="7000"/>
            </a:lvl2pPr>
            <a:lvl3pPr marL="3200400" indent="0" algn="ctr">
              <a:buNone/>
              <a:defRPr sz="6300"/>
            </a:lvl3pPr>
            <a:lvl4pPr marL="4800600" indent="0" algn="ctr">
              <a:buNone/>
              <a:defRPr sz="5600"/>
            </a:lvl4pPr>
            <a:lvl5pPr marL="6400800" indent="0" algn="ctr">
              <a:buNone/>
              <a:defRPr sz="5600"/>
            </a:lvl5pPr>
            <a:lvl6pPr marL="8001000" indent="0" algn="ctr">
              <a:buNone/>
              <a:defRPr sz="5600"/>
            </a:lvl6pPr>
            <a:lvl7pPr marL="9601200" indent="0" algn="ctr">
              <a:buNone/>
              <a:defRPr sz="5600"/>
            </a:lvl7pPr>
            <a:lvl8pPr marL="11201400" indent="0" algn="ctr">
              <a:buNone/>
              <a:defRPr sz="5600"/>
            </a:lvl8pPr>
            <a:lvl9pPr marL="12801600" indent="0" algn="ctr">
              <a:buNone/>
              <a:defRPr sz="5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304221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995907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3608" y="10486402"/>
            <a:ext cx="27603450" cy="17496787"/>
          </a:xfrm>
        </p:spPr>
        <p:txBody>
          <a:bodyPr anchor="b"/>
          <a:lstStyle>
            <a:lvl1pPr>
              <a:defRPr sz="21000"/>
            </a:lvl1pPr>
          </a:lstStyle>
          <a:p>
            <a:r>
              <a:rPr lang="en-US"/>
              <a:t>Click to edit Master title style</a:t>
            </a:r>
            <a:endParaRPr lang="en-US" dirty="0"/>
          </a:p>
        </p:txBody>
      </p:sp>
      <p:sp>
        <p:nvSpPr>
          <p:cNvPr id="3" name="Text Placeholder 2"/>
          <p:cNvSpPr>
            <a:spLocks noGrp="1"/>
          </p:cNvSpPr>
          <p:nvPr>
            <p:ph type="body" idx="1"/>
          </p:nvPr>
        </p:nvSpPr>
        <p:spPr>
          <a:xfrm>
            <a:off x="2183608" y="28148716"/>
            <a:ext cx="27603450" cy="9201147"/>
          </a:xfrm>
        </p:spPr>
        <p:txBody>
          <a:bodyPr/>
          <a:lstStyle>
            <a:lvl1pPr marL="0" indent="0">
              <a:buNone/>
              <a:defRPr sz="8400">
                <a:solidFill>
                  <a:schemeClr val="tx1">
                    <a:tint val="82000"/>
                  </a:schemeClr>
                </a:solidFill>
              </a:defRPr>
            </a:lvl1pPr>
            <a:lvl2pPr marL="1600200" indent="0">
              <a:buNone/>
              <a:defRPr sz="7000">
                <a:solidFill>
                  <a:schemeClr val="tx1">
                    <a:tint val="82000"/>
                  </a:schemeClr>
                </a:solidFill>
              </a:defRPr>
            </a:lvl2pPr>
            <a:lvl3pPr marL="3200400" indent="0">
              <a:buNone/>
              <a:defRPr sz="6300">
                <a:solidFill>
                  <a:schemeClr val="tx1">
                    <a:tint val="82000"/>
                  </a:schemeClr>
                </a:solidFill>
              </a:defRPr>
            </a:lvl3pPr>
            <a:lvl4pPr marL="4800600" indent="0">
              <a:buNone/>
              <a:defRPr sz="5600">
                <a:solidFill>
                  <a:schemeClr val="tx1">
                    <a:tint val="82000"/>
                  </a:schemeClr>
                </a:solidFill>
              </a:defRPr>
            </a:lvl4pPr>
            <a:lvl5pPr marL="6400800" indent="0">
              <a:buNone/>
              <a:defRPr sz="5600">
                <a:solidFill>
                  <a:schemeClr val="tx1">
                    <a:tint val="82000"/>
                  </a:schemeClr>
                </a:solidFill>
              </a:defRPr>
            </a:lvl5pPr>
            <a:lvl6pPr marL="8001000" indent="0">
              <a:buNone/>
              <a:defRPr sz="5600">
                <a:solidFill>
                  <a:schemeClr val="tx1">
                    <a:tint val="82000"/>
                  </a:schemeClr>
                </a:solidFill>
              </a:defRPr>
            </a:lvl6pPr>
            <a:lvl7pPr marL="9601200" indent="0">
              <a:buNone/>
              <a:defRPr sz="5600">
                <a:solidFill>
                  <a:schemeClr val="tx1">
                    <a:tint val="82000"/>
                  </a:schemeClr>
                </a:solidFill>
              </a:defRPr>
            </a:lvl7pPr>
            <a:lvl8pPr marL="11201400" indent="0">
              <a:buNone/>
              <a:defRPr sz="5600">
                <a:solidFill>
                  <a:schemeClr val="tx1">
                    <a:tint val="82000"/>
                  </a:schemeClr>
                </a:solidFill>
              </a:defRPr>
            </a:lvl8pPr>
            <a:lvl9pPr marL="12801600" indent="0">
              <a:buNone/>
              <a:defRPr sz="5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1425673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00275" y="11197167"/>
            <a:ext cx="13601700" cy="26688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202025" y="11197167"/>
            <a:ext cx="13601700" cy="26688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4403F2-A1DF-A044-AE55-E145FABD63FC}"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74518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04443" y="2239442"/>
            <a:ext cx="27603450" cy="8130120"/>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04447" y="10311133"/>
            <a:ext cx="13539190" cy="5053327"/>
          </a:xfrm>
        </p:spPr>
        <p:txBody>
          <a:bodyPr anchor="b"/>
          <a:lstStyle>
            <a:lvl1pPr marL="0" indent="0">
              <a:buNone/>
              <a:defRPr sz="8400" b="1"/>
            </a:lvl1pPr>
            <a:lvl2pPr marL="1600200" indent="0">
              <a:buNone/>
              <a:defRPr sz="7000" b="1"/>
            </a:lvl2pPr>
            <a:lvl3pPr marL="3200400" indent="0">
              <a:buNone/>
              <a:defRPr sz="6300" b="1"/>
            </a:lvl3pPr>
            <a:lvl4pPr marL="4800600" indent="0">
              <a:buNone/>
              <a:defRPr sz="5600" b="1"/>
            </a:lvl4pPr>
            <a:lvl5pPr marL="6400800" indent="0">
              <a:buNone/>
              <a:defRPr sz="5600" b="1"/>
            </a:lvl5pPr>
            <a:lvl6pPr marL="8001000" indent="0">
              <a:buNone/>
              <a:defRPr sz="5600" b="1"/>
            </a:lvl6pPr>
            <a:lvl7pPr marL="9601200" indent="0">
              <a:buNone/>
              <a:defRPr sz="5600" b="1"/>
            </a:lvl7pPr>
            <a:lvl8pPr marL="11201400" indent="0">
              <a:buNone/>
              <a:defRPr sz="5600" b="1"/>
            </a:lvl8pPr>
            <a:lvl9pPr marL="12801600" indent="0">
              <a:buNone/>
              <a:defRPr sz="5600" b="1"/>
            </a:lvl9pPr>
          </a:lstStyle>
          <a:p>
            <a:pPr lvl="0"/>
            <a:r>
              <a:rPr lang="en-US"/>
              <a:t>Click to edit Master text styles</a:t>
            </a:r>
          </a:p>
        </p:txBody>
      </p:sp>
      <p:sp>
        <p:nvSpPr>
          <p:cNvPr id="4" name="Content Placeholder 3"/>
          <p:cNvSpPr>
            <a:spLocks noGrp="1"/>
          </p:cNvSpPr>
          <p:nvPr>
            <p:ph sz="half" idx="2"/>
          </p:nvPr>
        </p:nvSpPr>
        <p:spPr>
          <a:xfrm>
            <a:off x="2204447" y="15364460"/>
            <a:ext cx="13539190" cy="22598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202026" y="10311133"/>
            <a:ext cx="13605869" cy="5053327"/>
          </a:xfrm>
        </p:spPr>
        <p:txBody>
          <a:bodyPr anchor="b"/>
          <a:lstStyle>
            <a:lvl1pPr marL="0" indent="0">
              <a:buNone/>
              <a:defRPr sz="8400" b="1"/>
            </a:lvl1pPr>
            <a:lvl2pPr marL="1600200" indent="0">
              <a:buNone/>
              <a:defRPr sz="7000" b="1"/>
            </a:lvl2pPr>
            <a:lvl3pPr marL="3200400" indent="0">
              <a:buNone/>
              <a:defRPr sz="6300" b="1"/>
            </a:lvl3pPr>
            <a:lvl4pPr marL="4800600" indent="0">
              <a:buNone/>
              <a:defRPr sz="5600" b="1"/>
            </a:lvl4pPr>
            <a:lvl5pPr marL="6400800" indent="0">
              <a:buNone/>
              <a:defRPr sz="5600" b="1"/>
            </a:lvl5pPr>
            <a:lvl6pPr marL="8001000" indent="0">
              <a:buNone/>
              <a:defRPr sz="5600" b="1"/>
            </a:lvl6pPr>
            <a:lvl7pPr marL="9601200" indent="0">
              <a:buNone/>
              <a:defRPr sz="5600" b="1"/>
            </a:lvl7pPr>
            <a:lvl8pPr marL="11201400" indent="0">
              <a:buNone/>
              <a:defRPr sz="5600" b="1"/>
            </a:lvl8pPr>
            <a:lvl9pPr marL="12801600" indent="0">
              <a:buNone/>
              <a:defRPr sz="5600" b="1"/>
            </a:lvl9pPr>
          </a:lstStyle>
          <a:p>
            <a:pPr lvl="0"/>
            <a:r>
              <a:rPr lang="en-US"/>
              <a:t>Click to edit Master text styles</a:t>
            </a:r>
          </a:p>
        </p:txBody>
      </p:sp>
      <p:sp>
        <p:nvSpPr>
          <p:cNvPr id="6" name="Content Placeholder 5"/>
          <p:cNvSpPr>
            <a:spLocks noGrp="1"/>
          </p:cNvSpPr>
          <p:nvPr>
            <p:ph sz="quarter" idx="4"/>
          </p:nvPr>
        </p:nvSpPr>
        <p:spPr>
          <a:xfrm>
            <a:off x="16202026" y="15364460"/>
            <a:ext cx="13605869" cy="22598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4403F2-A1DF-A044-AE55-E145FABD63FC}" type="datetimeFigureOut">
              <a:rPr lang="en-US" smtClean="0"/>
              <a:t>3/31/26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10811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4403F2-A1DF-A044-AE55-E145FABD63FC}" type="datetimeFigureOut">
              <a:rPr lang="en-US" smtClean="0"/>
              <a:t>3/31/26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962919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4403F2-A1DF-A044-AE55-E145FABD63FC}" type="datetimeFigureOut">
              <a:rPr lang="en-US" smtClean="0"/>
              <a:t>3/31/26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420067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4444" y="2804160"/>
            <a:ext cx="10322123" cy="9814560"/>
          </a:xfrm>
        </p:spPr>
        <p:txBody>
          <a:bodyPr anchor="b"/>
          <a:lstStyle>
            <a:lvl1pPr>
              <a:defRPr sz="11200"/>
            </a:lvl1pPr>
          </a:lstStyle>
          <a:p>
            <a:r>
              <a:rPr lang="en-US"/>
              <a:t>Click to edit Master title style</a:t>
            </a:r>
            <a:endParaRPr lang="en-US" dirty="0"/>
          </a:p>
        </p:txBody>
      </p:sp>
      <p:sp>
        <p:nvSpPr>
          <p:cNvPr id="3" name="Content Placeholder 2"/>
          <p:cNvSpPr>
            <a:spLocks noGrp="1"/>
          </p:cNvSpPr>
          <p:nvPr>
            <p:ph idx="1"/>
          </p:nvPr>
        </p:nvSpPr>
        <p:spPr>
          <a:xfrm>
            <a:off x="13605868" y="6056216"/>
            <a:ext cx="16202025" cy="29891567"/>
          </a:xfrm>
        </p:spPr>
        <p:txBody>
          <a:bodyPr/>
          <a:lstStyle>
            <a:lvl1pPr>
              <a:defRPr sz="11200"/>
            </a:lvl1pPr>
            <a:lvl2pPr>
              <a:defRPr sz="9800"/>
            </a:lvl2pPr>
            <a:lvl3pPr>
              <a:defRPr sz="8400"/>
            </a:lvl3pPr>
            <a:lvl4pPr>
              <a:defRPr sz="7000"/>
            </a:lvl4pPr>
            <a:lvl5pPr>
              <a:defRPr sz="7000"/>
            </a:lvl5pPr>
            <a:lvl6pPr>
              <a:defRPr sz="7000"/>
            </a:lvl6pPr>
            <a:lvl7pPr>
              <a:defRPr sz="7000"/>
            </a:lvl7pPr>
            <a:lvl8pPr>
              <a:defRPr sz="7000"/>
            </a:lvl8pPr>
            <a:lvl9pPr>
              <a:defRPr sz="7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04444" y="12618720"/>
            <a:ext cx="10322123" cy="23377740"/>
          </a:xfrm>
        </p:spPr>
        <p:txBody>
          <a:bodyPr/>
          <a:lstStyle>
            <a:lvl1pPr marL="0" indent="0">
              <a:buNone/>
              <a:defRPr sz="5600"/>
            </a:lvl1pPr>
            <a:lvl2pPr marL="1600200" indent="0">
              <a:buNone/>
              <a:defRPr sz="4900"/>
            </a:lvl2pPr>
            <a:lvl3pPr marL="3200400" indent="0">
              <a:buNone/>
              <a:defRPr sz="4200"/>
            </a:lvl3pPr>
            <a:lvl4pPr marL="4800600" indent="0">
              <a:buNone/>
              <a:defRPr sz="3500"/>
            </a:lvl4pPr>
            <a:lvl5pPr marL="6400800" indent="0">
              <a:buNone/>
              <a:defRPr sz="3500"/>
            </a:lvl5pPr>
            <a:lvl6pPr marL="8001000" indent="0">
              <a:buNone/>
              <a:defRPr sz="3500"/>
            </a:lvl6pPr>
            <a:lvl7pPr marL="9601200" indent="0">
              <a:buNone/>
              <a:defRPr sz="3500"/>
            </a:lvl7pPr>
            <a:lvl8pPr marL="11201400" indent="0">
              <a:buNone/>
              <a:defRPr sz="3500"/>
            </a:lvl8pPr>
            <a:lvl9pPr marL="12801600" indent="0">
              <a:buNone/>
              <a:defRPr sz="3500"/>
            </a:lvl9pPr>
          </a:lstStyle>
          <a:p>
            <a:pPr lvl="0"/>
            <a:r>
              <a:rPr lang="en-US"/>
              <a:t>Click to edit Master text styles</a:t>
            </a:r>
          </a:p>
        </p:txBody>
      </p:sp>
      <p:sp>
        <p:nvSpPr>
          <p:cNvPr id="5" name="Date Placeholder 4"/>
          <p:cNvSpPr>
            <a:spLocks noGrp="1"/>
          </p:cNvSpPr>
          <p:nvPr>
            <p:ph type="dt" sz="half" idx="10"/>
          </p:nvPr>
        </p:nvSpPr>
        <p:spPr/>
        <p:txBody>
          <a:bodyPr/>
          <a:lstStyle/>
          <a:p>
            <a:fld id="{CD4403F2-A1DF-A044-AE55-E145FABD63FC}"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71079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4444" y="2804160"/>
            <a:ext cx="10322123" cy="9814560"/>
          </a:xfrm>
        </p:spPr>
        <p:txBody>
          <a:bodyPr anchor="b"/>
          <a:lstStyle>
            <a:lvl1pPr>
              <a:defRPr sz="1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605868" y="6056216"/>
            <a:ext cx="16202025" cy="29891567"/>
          </a:xfrm>
        </p:spPr>
        <p:txBody>
          <a:bodyPr anchor="t"/>
          <a:lstStyle>
            <a:lvl1pPr marL="0" indent="0">
              <a:buNone/>
              <a:defRPr sz="11200"/>
            </a:lvl1pPr>
            <a:lvl2pPr marL="1600200" indent="0">
              <a:buNone/>
              <a:defRPr sz="9800"/>
            </a:lvl2pPr>
            <a:lvl3pPr marL="3200400" indent="0">
              <a:buNone/>
              <a:defRPr sz="8400"/>
            </a:lvl3pPr>
            <a:lvl4pPr marL="4800600" indent="0">
              <a:buNone/>
              <a:defRPr sz="7000"/>
            </a:lvl4pPr>
            <a:lvl5pPr marL="6400800" indent="0">
              <a:buNone/>
              <a:defRPr sz="7000"/>
            </a:lvl5pPr>
            <a:lvl6pPr marL="8001000" indent="0">
              <a:buNone/>
              <a:defRPr sz="7000"/>
            </a:lvl6pPr>
            <a:lvl7pPr marL="9601200" indent="0">
              <a:buNone/>
              <a:defRPr sz="7000"/>
            </a:lvl7pPr>
            <a:lvl8pPr marL="11201400" indent="0">
              <a:buNone/>
              <a:defRPr sz="7000"/>
            </a:lvl8pPr>
            <a:lvl9pPr marL="12801600" indent="0">
              <a:buNone/>
              <a:defRPr sz="7000"/>
            </a:lvl9pPr>
          </a:lstStyle>
          <a:p>
            <a:r>
              <a:rPr lang="en-US"/>
              <a:t>Click icon to add picture</a:t>
            </a:r>
            <a:endParaRPr lang="en-US" dirty="0"/>
          </a:p>
        </p:txBody>
      </p:sp>
      <p:sp>
        <p:nvSpPr>
          <p:cNvPr id="4" name="Text Placeholder 3"/>
          <p:cNvSpPr>
            <a:spLocks noGrp="1"/>
          </p:cNvSpPr>
          <p:nvPr>
            <p:ph type="body" sz="half" idx="2"/>
          </p:nvPr>
        </p:nvSpPr>
        <p:spPr>
          <a:xfrm>
            <a:off x="2204444" y="12618720"/>
            <a:ext cx="10322123" cy="23377740"/>
          </a:xfrm>
        </p:spPr>
        <p:txBody>
          <a:bodyPr/>
          <a:lstStyle>
            <a:lvl1pPr marL="0" indent="0">
              <a:buNone/>
              <a:defRPr sz="5600"/>
            </a:lvl1pPr>
            <a:lvl2pPr marL="1600200" indent="0">
              <a:buNone/>
              <a:defRPr sz="4900"/>
            </a:lvl2pPr>
            <a:lvl3pPr marL="3200400" indent="0">
              <a:buNone/>
              <a:defRPr sz="4200"/>
            </a:lvl3pPr>
            <a:lvl4pPr marL="4800600" indent="0">
              <a:buNone/>
              <a:defRPr sz="3500"/>
            </a:lvl4pPr>
            <a:lvl5pPr marL="6400800" indent="0">
              <a:buNone/>
              <a:defRPr sz="3500"/>
            </a:lvl5pPr>
            <a:lvl6pPr marL="8001000" indent="0">
              <a:buNone/>
              <a:defRPr sz="3500"/>
            </a:lvl6pPr>
            <a:lvl7pPr marL="9601200" indent="0">
              <a:buNone/>
              <a:defRPr sz="3500"/>
            </a:lvl7pPr>
            <a:lvl8pPr marL="11201400" indent="0">
              <a:buNone/>
              <a:defRPr sz="3500"/>
            </a:lvl8pPr>
            <a:lvl9pPr marL="12801600" indent="0">
              <a:buNone/>
              <a:defRPr sz="3500"/>
            </a:lvl9pPr>
          </a:lstStyle>
          <a:p>
            <a:pPr lvl="0"/>
            <a:r>
              <a:rPr lang="en-US"/>
              <a:t>Click to edit Master text styles</a:t>
            </a:r>
          </a:p>
        </p:txBody>
      </p:sp>
      <p:sp>
        <p:nvSpPr>
          <p:cNvPr id="5" name="Date Placeholder 4"/>
          <p:cNvSpPr>
            <a:spLocks noGrp="1"/>
          </p:cNvSpPr>
          <p:nvPr>
            <p:ph type="dt" sz="half" idx="10"/>
          </p:nvPr>
        </p:nvSpPr>
        <p:spPr/>
        <p:txBody>
          <a:bodyPr/>
          <a:lstStyle/>
          <a:p>
            <a:fld id="{CD4403F2-A1DF-A044-AE55-E145FABD63FC}" type="datetimeFigureOut">
              <a:rPr lang="en-US" smtClean="0"/>
              <a:t>3/31/26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281289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653985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902864" y="2239433"/>
            <a:ext cx="6900863" cy="356459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00277" y="2239433"/>
            <a:ext cx="20302538" cy="356459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4403F2-A1DF-A044-AE55-E145FABD63FC}" type="datetimeFigureOut">
              <a:rPr lang="en-US" smtClean="0"/>
              <a:t>3/31/26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960D98-D211-3649-B4CA-0D07E3EDAC44}" type="slidenum">
              <a:rPr lang="en-US" smtClean="0"/>
              <a:t>‹#›</a:t>
            </a:fld>
            <a:endParaRPr lang="en-US"/>
          </a:p>
        </p:txBody>
      </p:sp>
    </p:spTree>
    <p:extLst>
      <p:ext uri="{BB962C8B-B14F-4D97-AF65-F5344CB8AC3E}">
        <p14:creationId xmlns:p14="http://schemas.microsoft.com/office/powerpoint/2010/main" val="3664712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00275" y="2239442"/>
            <a:ext cx="27603450" cy="81301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00275" y="11197167"/>
            <a:ext cx="27603450" cy="266882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00275" y="38985623"/>
            <a:ext cx="7200900" cy="2239433"/>
          </a:xfrm>
          <a:prstGeom prst="rect">
            <a:avLst/>
          </a:prstGeom>
        </p:spPr>
        <p:txBody>
          <a:bodyPr vert="horz" lIns="91440" tIns="45720" rIns="91440" bIns="45720" rtlCol="0" anchor="ctr"/>
          <a:lstStyle>
            <a:lvl1pPr algn="l">
              <a:defRPr sz="4200">
                <a:solidFill>
                  <a:schemeClr val="tx1">
                    <a:tint val="82000"/>
                  </a:schemeClr>
                </a:solidFill>
              </a:defRPr>
            </a:lvl1pPr>
          </a:lstStyle>
          <a:p>
            <a:fld id="{CD4403F2-A1DF-A044-AE55-E145FABD63FC}" type="datetimeFigureOut">
              <a:rPr lang="en-US" smtClean="0"/>
              <a:t>3/31/26</a:t>
            </a:fld>
            <a:endParaRPr lang="en-US"/>
          </a:p>
        </p:txBody>
      </p:sp>
      <p:sp>
        <p:nvSpPr>
          <p:cNvPr id="5" name="Footer Placeholder 4"/>
          <p:cNvSpPr>
            <a:spLocks noGrp="1"/>
          </p:cNvSpPr>
          <p:nvPr>
            <p:ph type="ftr" sz="quarter" idx="3"/>
          </p:nvPr>
        </p:nvSpPr>
        <p:spPr>
          <a:xfrm>
            <a:off x="10601325" y="38985623"/>
            <a:ext cx="10801350" cy="2239433"/>
          </a:xfrm>
          <a:prstGeom prst="rect">
            <a:avLst/>
          </a:prstGeom>
        </p:spPr>
        <p:txBody>
          <a:bodyPr vert="horz" lIns="91440" tIns="45720" rIns="91440" bIns="45720" rtlCol="0" anchor="ctr"/>
          <a:lstStyle>
            <a:lvl1pPr algn="ctr">
              <a:defRPr sz="4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2602825" y="38985623"/>
            <a:ext cx="7200900" cy="2239433"/>
          </a:xfrm>
          <a:prstGeom prst="rect">
            <a:avLst/>
          </a:prstGeom>
        </p:spPr>
        <p:txBody>
          <a:bodyPr vert="horz" lIns="91440" tIns="45720" rIns="91440" bIns="45720" rtlCol="0" anchor="ctr"/>
          <a:lstStyle>
            <a:lvl1pPr algn="r">
              <a:defRPr sz="4200">
                <a:solidFill>
                  <a:schemeClr val="tx1">
                    <a:tint val="82000"/>
                  </a:schemeClr>
                </a:solidFill>
              </a:defRPr>
            </a:lvl1pPr>
          </a:lstStyle>
          <a:p>
            <a:fld id="{3C960D98-D211-3649-B4CA-0D07E3EDAC44}" type="slidenum">
              <a:rPr lang="en-US" smtClean="0"/>
              <a:t>‹#›</a:t>
            </a:fld>
            <a:endParaRPr lang="en-US"/>
          </a:p>
        </p:txBody>
      </p:sp>
    </p:spTree>
    <p:extLst>
      <p:ext uri="{BB962C8B-B14F-4D97-AF65-F5344CB8AC3E}">
        <p14:creationId xmlns:p14="http://schemas.microsoft.com/office/powerpoint/2010/main" val="2709444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200400" rtl="0" eaLnBrk="1" latinLnBrk="0" hangingPunct="1">
        <a:lnSpc>
          <a:spcPct val="90000"/>
        </a:lnSpc>
        <a:spcBef>
          <a:spcPct val="0"/>
        </a:spcBef>
        <a:buNone/>
        <a:defRPr sz="15400" kern="1200">
          <a:solidFill>
            <a:schemeClr val="tx1"/>
          </a:solidFill>
          <a:latin typeface="+mj-lt"/>
          <a:ea typeface="+mj-ea"/>
          <a:cs typeface="+mj-cs"/>
        </a:defRPr>
      </a:lvl1pPr>
    </p:titleStyle>
    <p:bodyStyle>
      <a:lvl1pPr marL="800100" indent="-800100" algn="l" defTabSz="3200400" rtl="0" eaLnBrk="1" latinLnBrk="0" hangingPunct="1">
        <a:lnSpc>
          <a:spcPct val="90000"/>
        </a:lnSpc>
        <a:spcBef>
          <a:spcPts val="3500"/>
        </a:spcBef>
        <a:buFont typeface="Arial" panose="020B0604020202020204" pitchFamily="34" charset="0"/>
        <a:buChar char="•"/>
        <a:defRPr sz="9800" kern="1200">
          <a:solidFill>
            <a:schemeClr val="tx1"/>
          </a:solidFill>
          <a:latin typeface="+mn-lt"/>
          <a:ea typeface="+mn-ea"/>
          <a:cs typeface="+mn-cs"/>
        </a:defRPr>
      </a:lvl1pPr>
      <a:lvl2pPr marL="2400300" indent="-800100" algn="l" defTabSz="3200400" rtl="0" eaLnBrk="1" latinLnBrk="0" hangingPunct="1">
        <a:lnSpc>
          <a:spcPct val="90000"/>
        </a:lnSpc>
        <a:spcBef>
          <a:spcPts val="1750"/>
        </a:spcBef>
        <a:buFont typeface="Arial" panose="020B0604020202020204" pitchFamily="34" charset="0"/>
        <a:buChar char="•"/>
        <a:defRPr sz="8400" kern="1200">
          <a:solidFill>
            <a:schemeClr val="tx1"/>
          </a:solidFill>
          <a:latin typeface="+mn-lt"/>
          <a:ea typeface="+mn-ea"/>
          <a:cs typeface="+mn-cs"/>
        </a:defRPr>
      </a:lvl2pPr>
      <a:lvl3pPr marL="4000500" indent="-800100" algn="l" defTabSz="3200400" rtl="0" eaLnBrk="1" latinLnBrk="0" hangingPunct="1">
        <a:lnSpc>
          <a:spcPct val="90000"/>
        </a:lnSpc>
        <a:spcBef>
          <a:spcPts val="1750"/>
        </a:spcBef>
        <a:buFont typeface="Arial" panose="020B0604020202020204" pitchFamily="34" charset="0"/>
        <a:buChar char="•"/>
        <a:defRPr sz="7000" kern="1200">
          <a:solidFill>
            <a:schemeClr val="tx1"/>
          </a:solidFill>
          <a:latin typeface="+mn-lt"/>
          <a:ea typeface="+mn-ea"/>
          <a:cs typeface="+mn-cs"/>
        </a:defRPr>
      </a:lvl3pPr>
      <a:lvl4pPr marL="56007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4pPr>
      <a:lvl5pPr marL="72009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5pPr>
      <a:lvl6pPr marL="88011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6pPr>
      <a:lvl7pPr marL="104013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7pPr>
      <a:lvl8pPr marL="120015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8pPr>
      <a:lvl9pPr marL="136017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9pPr>
    </p:bodyStyle>
    <p:otherStyle>
      <a:defPPr>
        <a:defRPr lang="en-US"/>
      </a:defPPr>
      <a:lvl1pPr marL="0" algn="l" defTabSz="3200400" rtl="0" eaLnBrk="1" latinLnBrk="0" hangingPunct="1">
        <a:defRPr sz="6300" kern="1200">
          <a:solidFill>
            <a:schemeClr val="tx1"/>
          </a:solidFill>
          <a:latin typeface="+mn-lt"/>
          <a:ea typeface="+mn-ea"/>
          <a:cs typeface="+mn-cs"/>
        </a:defRPr>
      </a:lvl1pPr>
      <a:lvl2pPr marL="1600200" algn="l" defTabSz="3200400" rtl="0" eaLnBrk="1" latinLnBrk="0" hangingPunct="1">
        <a:defRPr sz="6300" kern="1200">
          <a:solidFill>
            <a:schemeClr val="tx1"/>
          </a:solidFill>
          <a:latin typeface="+mn-lt"/>
          <a:ea typeface="+mn-ea"/>
          <a:cs typeface="+mn-cs"/>
        </a:defRPr>
      </a:lvl2pPr>
      <a:lvl3pPr marL="3200400" algn="l" defTabSz="3200400" rtl="0" eaLnBrk="1" latinLnBrk="0" hangingPunct="1">
        <a:defRPr sz="6300" kern="1200">
          <a:solidFill>
            <a:schemeClr val="tx1"/>
          </a:solidFill>
          <a:latin typeface="+mn-lt"/>
          <a:ea typeface="+mn-ea"/>
          <a:cs typeface="+mn-cs"/>
        </a:defRPr>
      </a:lvl3pPr>
      <a:lvl4pPr marL="4800600" algn="l" defTabSz="3200400" rtl="0" eaLnBrk="1" latinLnBrk="0" hangingPunct="1">
        <a:defRPr sz="6300" kern="1200">
          <a:solidFill>
            <a:schemeClr val="tx1"/>
          </a:solidFill>
          <a:latin typeface="+mn-lt"/>
          <a:ea typeface="+mn-ea"/>
          <a:cs typeface="+mn-cs"/>
        </a:defRPr>
      </a:lvl4pPr>
      <a:lvl5pPr marL="6400800" algn="l" defTabSz="3200400" rtl="0" eaLnBrk="1" latinLnBrk="0" hangingPunct="1">
        <a:defRPr sz="6300" kern="1200">
          <a:solidFill>
            <a:schemeClr val="tx1"/>
          </a:solidFill>
          <a:latin typeface="+mn-lt"/>
          <a:ea typeface="+mn-ea"/>
          <a:cs typeface="+mn-cs"/>
        </a:defRPr>
      </a:lvl5pPr>
      <a:lvl6pPr marL="8001000" algn="l" defTabSz="3200400" rtl="0" eaLnBrk="1" latinLnBrk="0" hangingPunct="1">
        <a:defRPr sz="6300" kern="1200">
          <a:solidFill>
            <a:schemeClr val="tx1"/>
          </a:solidFill>
          <a:latin typeface="+mn-lt"/>
          <a:ea typeface="+mn-ea"/>
          <a:cs typeface="+mn-cs"/>
        </a:defRPr>
      </a:lvl6pPr>
      <a:lvl7pPr marL="9601200" algn="l" defTabSz="3200400" rtl="0" eaLnBrk="1" latinLnBrk="0" hangingPunct="1">
        <a:defRPr sz="6300" kern="1200">
          <a:solidFill>
            <a:schemeClr val="tx1"/>
          </a:solidFill>
          <a:latin typeface="+mn-lt"/>
          <a:ea typeface="+mn-ea"/>
          <a:cs typeface="+mn-cs"/>
        </a:defRPr>
      </a:lvl7pPr>
      <a:lvl8pPr marL="11201400" algn="l" defTabSz="3200400" rtl="0" eaLnBrk="1" latinLnBrk="0" hangingPunct="1">
        <a:defRPr sz="6300" kern="1200">
          <a:solidFill>
            <a:schemeClr val="tx1"/>
          </a:solidFill>
          <a:latin typeface="+mn-lt"/>
          <a:ea typeface="+mn-ea"/>
          <a:cs typeface="+mn-cs"/>
        </a:defRPr>
      </a:lvl8pPr>
      <a:lvl9pPr marL="12801600" algn="l" defTabSz="3200400" rtl="0" eaLnBrk="1" latinLnBrk="0" hangingPunct="1">
        <a:defRPr sz="6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2114D1-54EE-8B72-B6D6-BFED458265E8}"/>
              </a:ext>
            </a:extLst>
          </p:cNvPr>
          <p:cNvSpPr txBox="1"/>
          <p:nvPr/>
        </p:nvSpPr>
        <p:spPr>
          <a:xfrm>
            <a:off x="-59436" y="0"/>
            <a:ext cx="32063436" cy="4203572"/>
          </a:xfrm>
          <a:prstGeom prst="rect">
            <a:avLst/>
          </a:prstGeom>
          <a:solidFill>
            <a:srgbClr val="DBE7F6"/>
          </a:solidFill>
          <a:ln>
            <a:noFill/>
          </a:ln>
        </p:spPr>
        <p:txBody>
          <a:bodyPr wrap="square" lIns="334172" tIns="167086" rIns="334172" bIns="167086" rtlCol="0" anchor="ctr" anchorCtr="0">
            <a:noAutofit/>
          </a:bodyPr>
          <a:lstStyle/>
          <a:p>
            <a:pPr marL="31750" algn="ctr">
              <a:spcAft>
                <a:spcPts val="914"/>
              </a:spcAft>
            </a:pPr>
            <a:endParaRPr lang="en-US" sz="1400" b="1" dirty="0">
              <a:latin typeface="Helvetica" pitchFamily="2" charset="0"/>
              <a:cs typeface="Arial" panose="020B0604020202020204" pitchFamily="34" charset="0"/>
            </a:endParaRPr>
          </a:p>
          <a:p>
            <a:pPr marL="31750" algn="ctr">
              <a:spcAft>
                <a:spcPts val="914"/>
              </a:spcAft>
            </a:pPr>
            <a:r>
              <a:rPr lang="en-US" sz="9000" b="1" dirty="0">
                <a:latin typeface="Helvetica" pitchFamily="2" charset="0"/>
                <a:cs typeface="Arial" panose="020B0604020202020204" pitchFamily="34" charset="0"/>
              </a:rPr>
              <a:t>Modeling Daily Soil Moisture in Lethbridge, AB</a:t>
            </a:r>
            <a:endParaRPr lang="en-US" sz="100" b="1" dirty="0">
              <a:latin typeface="Helvetica" pitchFamily="2" charset="0"/>
              <a:cs typeface="Arial" panose="020B0604020202020204" pitchFamily="34" charset="0"/>
            </a:endParaRPr>
          </a:p>
          <a:p>
            <a:pPr marL="31750" algn="ctr">
              <a:spcAft>
                <a:spcPts val="914"/>
              </a:spcAft>
            </a:pPr>
            <a:r>
              <a:rPr lang="en-US" sz="6000" dirty="0">
                <a:latin typeface="Montserrat" pitchFamily="2" charset="77"/>
                <a:cs typeface="Arial" panose="020B0604020202020204" pitchFamily="34" charset="0"/>
              </a:rPr>
              <a:t>Farah Sadoon, GEOG 6550: Environmental Modeling</a:t>
            </a:r>
          </a:p>
          <a:p>
            <a:pPr marL="31750" algn="ctr">
              <a:spcAft>
                <a:spcPts val="914"/>
              </a:spcAft>
            </a:pPr>
            <a:endParaRPr lang="en-US" sz="3044" i="1" dirty="0">
              <a:latin typeface="Montserrat" pitchFamily="2" charset="77"/>
              <a:cs typeface="Arial" panose="020B0604020202020204" pitchFamily="34" charset="0"/>
            </a:endParaRPr>
          </a:p>
        </p:txBody>
      </p:sp>
      <p:sp>
        <p:nvSpPr>
          <p:cNvPr id="6" name="object 7">
            <a:extLst>
              <a:ext uri="{FF2B5EF4-FFF2-40B4-BE49-F238E27FC236}">
                <a16:creationId xmlns:a16="http://schemas.microsoft.com/office/drawing/2014/main" id="{E0E73EF0-A4A5-6F91-F6A5-7B4E59F06F29}"/>
              </a:ext>
            </a:extLst>
          </p:cNvPr>
          <p:cNvSpPr/>
          <p:nvPr/>
        </p:nvSpPr>
        <p:spPr>
          <a:xfrm>
            <a:off x="0" y="4178899"/>
            <a:ext cx="32004000" cy="211554"/>
          </a:xfrm>
          <a:custGeom>
            <a:avLst/>
            <a:gdLst/>
            <a:ahLst/>
            <a:cxnLst/>
            <a:rect l="l" t="t" r="r" b="b"/>
            <a:pathLst>
              <a:path w="20106005" h="81914">
                <a:moveTo>
                  <a:pt x="20105548" y="65125"/>
                </a:moveTo>
                <a:lnTo>
                  <a:pt x="0" y="65125"/>
                </a:lnTo>
                <a:lnTo>
                  <a:pt x="0" y="81394"/>
                </a:lnTo>
                <a:lnTo>
                  <a:pt x="20105548" y="81394"/>
                </a:lnTo>
                <a:lnTo>
                  <a:pt x="20105548" y="65125"/>
                </a:lnTo>
                <a:close/>
              </a:path>
              <a:path w="20106005" h="81914">
                <a:moveTo>
                  <a:pt x="20105548" y="0"/>
                </a:moveTo>
                <a:lnTo>
                  <a:pt x="0" y="0"/>
                </a:lnTo>
                <a:lnTo>
                  <a:pt x="0" y="48844"/>
                </a:lnTo>
                <a:lnTo>
                  <a:pt x="20105548" y="48844"/>
                </a:lnTo>
                <a:lnTo>
                  <a:pt x="20105548" y="0"/>
                </a:lnTo>
                <a:close/>
              </a:path>
            </a:pathLst>
          </a:custGeom>
          <a:solidFill>
            <a:srgbClr val="89A493"/>
          </a:solidFill>
        </p:spPr>
        <p:txBody>
          <a:bodyPr wrap="square" lIns="0" tIns="0" rIns="0" bIns="0" rtlCol="0"/>
          <a:lstStyle/>
          <a:p>
            <a:endParaRPr sz="1370"/>
          </a:p>
        </p:txBody>
      </p:sp>
      <p:sp>
        <p:nvSpPr>
          <p:cNvPr id="7" name="TextBox 6">
            <a:extLst>
              <a:ext uri="{FF2B5EF4-FFF2-40B4-BE49-F238E27FC236}">
                <a16:creationId xmlns:a16="http://schemas.microsoft.com/office/drawing/2014/main" id="{A43D5955-0F2F-E524-7D28-37B2283543AB}"/>
              </a:ext>
            </a:extLst>
          </p:cNvPr>
          <p:cNvSpPr txBox="1"/>
          <p:nvPr/>
        </p:nvSpPr>
        <p:spPr>
          <a:xfrm>
            <a:off x="632493" y="4881415"/>
            <a:ext cx="7020640" cy="861774"/>
          </a:xfrm>
          <a:prstGeom prst="rect">
            <a:avLst/>
          </a:prstGeom>
          <a:noFill/>
        </p:spPr>
        <p:txBody>
          <a:bodyPr wrap="square" rtlCol="0">
            <a:spAutoFit/>
          </a:bodyPr>
          <a:lstStyle/>
          <a:p>
            <a:r>
              <a:rPr lang="en-US" sz="5000" b="1" dirty="0">
                <a:latin typeface="Helvetica" pitchFamily="2" charset="0"/>
              </a:rPr>
              <a:t>BACKGROUND</a:t>
            </a:r>
          </a:p>
        </p:txBody>
      </p:sp>
      <p:sp>
        <p:nvSpPr>
          <p:cNvPr id="9" name="TextBox 8">
            <a:extLst>
              <a:ext uri="{FF2B5EF4-FFF2-40B4-BE49-F238E27FC236}">
                <a16:creationId xmlns:a16="http://schemas.microsoft.com/office/drawing/2014/main" id="{278C6843-4825-980A-309E-1734D285E7E5}"/>
              </a:ext>
            </a:extLst>
          </p:cNvPr>
          <p:cNvSpPr txBox="1"/>
          <p:nvPr/>
        </p:nvSpPr>
        <p:spPr>
          <a:xfrm>
            <a:off x="629626" y="5916812"/>
            <a:ext cx="15036408" cy="7530075"/>
          </a:xfrm>
          <a:prstGeom prst="rect">
            <a:avLst/>
          </a:prstGeom>
          <a:noFill/>
        </p:spPr>
        <p:txBody>
          <a:bodyPr wrap="square">
            <a:spAutoFit/>
          </a:bodyPr>
          <a:lstStyle/>
          <a:p>
            <a:pPr marL="112176" marR="48949" algn="just">
              <a:lnSpc>
                <a:spcPct val="101299"/>
              </a:lnSpc>
              <a:spcBef>
                <a:spcPts val="1799"/>
              </a:spcBef>
            </a:pPr>
            <a:r>
              <a:rPr lang="en-CA" sz="3200" dirty="0">
                <a:latin typeface="Montserrat" pitchFamily="2" charset="77"/>
                <a:cs typeface="Arial" panose="020B0604020202020204" pitchFamily="34" charset="0"/>
              </a:rPr>
              <a:t>Soil</a:t>
            </a:r>
            <a:r>
              <a:rPr lang="en-CA" sz="3200" spc="36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37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regulates</a:t>
            </a:r>
            <a:r>
              <a:rPr lang="en-CA" sz="3200" spc="36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land-climate</a:t>
            </a:r>
            <a:r>
              <a:rPr lang="en-CA" sz="3200" spc="36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interactions</a:t>
            </a:r>
            <a:r>
              <a:rPr lang="en-CA" sz="3200" spc="36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by</a:t>
            </a:r>
            <a:r>
              <a:rPr lang="en-CA" sz="3200" spc="368"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controlling </a:t>
            </a:r>
            <a:r>
              <a:rPr lang="en-CA" sz="3200" dirty="0">
                <a:latin typeface="Montserrat" pitchFamily="2" charset="77"/>
                <a:cs typeface="Arial" panose="020B0604020202020204" pitchFamily="34" charset="0"/>
              </a:rPr>
              <a:t>evapotranspiration,</a:t>
            </a:r>
            <a:r>
              <a:rPr lang="en-CA" sz="3200" spc="7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energy</a:t>
            </a:r>
            <a:r>
              <a:rPr lang="en-CA" sz="3200" spc="8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cycles,</a:t>
            </a:r>
            <a:r>
              <a:rPr lang="en-CA" sz="3200" spc="7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8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water</a:t>
            </a:r>
            <a:r>
              <a:rPr lang="en-CA" sz="3200" spc="8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availability</a:t>
            </a:r>
            <a:r>
              <a:rPr lang="en-CA" sz="3200" spc="81" dirty="0">
                <a:latin typeface="Montserrat" pitchFamily="2" charset="77"/>
                <a:cs typeface="Arial" panose="020B0604020202020204" pitchFamily="34" charset="0"/>
              </a:rPr>
              <a:t>  </a:t>
            </a:r>
            <a:r>
              <a:rPr lang="en-CA" sz="3200" spc="-40" dirty="0">
                <a:latin typeface="Montserrat" pitchFamily="2" charset="77"/>
                <a:cs typeface="Arial" panose="020B0604020202020204" pitchFamily="34" charset="0"/>
              </a:rPr>
              <a:t>for </a:t>
            </a:r>
            <a:r>
              <a:rPr lang="en-CA" sz="3200" dirty="0">
                <a:latin typeface="Montserrat" pitchFamily="2" charset="77"/>
                <a:cs typeface="Arial" panose="020B0604020202020204" pitchFamily="34" charset="0"/>
              </a:rPr>
              <a:t>vegetation.</a:t>
            </a:r>
            <a:r>
              <a:rPr lang="en-CA" sz="3200" spc="74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Shifts</a:t>
            </a:r>
            <a:r>
              <a:rPr lang="en-CA" sz="3200" spc="74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755"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74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76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under</a:t>
            </a:r>
            <a:r>
              <a:rPr lang="en-CA" sz="3200" spc="74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warming</a:t>
            </a:r>
            <a:r>
              <a:rPr lang="en-CA" sz="3200" spc="755"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conditions </a:t>
            </a:r>
            <a:r>
              <a:rPr lang="en-CA" sz="3200" dirty="0">
                <a:latin typeface="Montserrat" pitchFamily="2" charset="77"/>
                <a:cs typeface="Arial" panose="020B0604020202020204" pitchFamily="34" charset="0"/>
              </a:rPr>
              <a:t>have</a:t>
            </a:r>
            <a:r>
              <a:rPr lang="en-CA" sz="3200" spc="24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led</a:t>
            </a:r>
            <a:r>
              <a:rPr lang="en-CA" sz="3200" spc="24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24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notable</a:t>
            </a:r>
            <a:r>
              <a:rPr lang="en-CA" sz="3200" spc="24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changes</a:t>
            </a:r>
            <a:r>
              <a:rPr lang="en-CA" sz="3200" spc="24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23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land</a:t>
            </a:r>
            <a:r>
              <a:rPr lang="en-CA" sz="3200" spc="24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cover</a:t>
            </a:r>
            <a:r>
              <a:rPr lang="en-CA" sz="3200" spc="24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241"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growing capabilities</a:t>
            </a:r>
            <a:r>
              <a:rPr lang="en-CA" sz="3200" spc="-24" baseline="26315" dirty="0">
                <a:latin typeface="Montserrat" pitchFamily="2" charset="77"/>
                <a:cs typeface="Arial" panose="020B0604020202020204" pitchFamily="34" charset="0"/>
              </a:rPr>
              <a:t>1</a:t>
            </a:r>
            <a:r>
              <a:rPr lang="en-CA" sz="3200" spc="-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a:t>
            </a:r>
            <a:r>
              <a:rPr lang="en-CA" sz="3200" spc="28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Canada,</a:t>
            </a:r>
            <a:r>
              <a:rPr lang="en-CA" sz="3200" spc="28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9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Prairie</a:t>
            </a:r>
            <a:r>
              <a:rPr lang="en-CA" sz="3200" spc="29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ecoregion</a:t>
            </a:r>
            <a:r>
              <a:rPr lang="en-CA" sz="3200" spc="29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provides</a:t>
            </a:r>
            <a:r>
              <a:rPr lang="en-CA" sz="3200" spc="29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important</a:t>
            </a:r>
            <a:r>
              <a:rPr lang="en-CA" sz="3200" spc="297"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ecosystem </a:t>
            </a:r>
            <a:r>
              <a:rPr lang="en-CA" sz="3200" dirty="0">
                <a:latin typeface="Montserrat" pitchFamily="2" charset="77"/>
                <a:cs typeface="Arial" panose="020B0604020202020204" pitchFamily="34" charset="0"/>
              </a:rPr>
              <a:t>services</a:t>
            </a:r>
            <a:r>
              <a:rPr lang="en-CA" sz="3200" spc="36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37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contributes</a:t>
            </a:r>
            <a:r>
              <a:rPr lang="en-CA" sz="3200" spc="37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substantially</a:t>
            </a:r>
            <a:r>
              <a:rPr lang="en-CA" sz="3200" spc="37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37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37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national</a:t>
            </a:r>
            <a:r>
              <a:rPr lang="en-CA" sz="3200" spc="368"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economy </a:t>
            </a:r>
            <a:r>
              <a:rPr lang="en-CA" sz="3200" dirty="0">
                <a:latin typeface="Montserrat" pitchFamily="2" charset="77"/>
                <a:cs typeface="Arial" panose="020B0604020202020204" pitchFamily="34" charset="0"/>
              </a:rPr>
              <a:t>through</a:t>
            </a:r>
            <a:r>
              <a:rPr lang="en-CA" sz="3200" spc="11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agricultural</a:t>
            </a:r>
            <a:r>
              <a:rPr lang="en-CA" sz="3200" spc="11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production</a:t>
            </a:r>
            <a:r>
              <a:rPr lang="en-CA" sz="3200" baseline="26315" dirty="0">
                <a:latin typeface="Montserrat" pitchFamily="2" charset="77"/>
                <a:cs typeface="Arial" panose="020B0604020202020204" pitchFamily="34" charset="0"/>
              </a:rPr>
              <a:t>2</a:t>
            </a:r>
            <a:r>
              <a:rPr lang="en-CA" sz="3200" dirty="0">
                <a:latin typeface="Montserrat" pitchFamily="2" charset="77"/>
                <a:cs typeface="Arial" panose="020B0604020202020204" pitchFamily="34" charset="0"/>
              </a:rPr>
              <a:t>.</a:t>
            </a:r>
            <a:r>
              <a:rPr lang="en-CA" sz="3200" spc="120"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Altered</a:t>
            </a:r>
            <a:r>
              <a:rPr lang="en-CA" sz="3200" spc="129"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11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moisture</a:t>
            </a:r>
            <a:r>
              <a:rPr lang="en-CA" sz="3200" spc="129"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dynamics </a:t>
            </a:r>
            <a:r>
              <a:rPr lang="en-CA" sz="3200" dirty="0">
                <a:latin typeface="Montserrat" pitchFamily="2" charset="77"/>
                <a:cs typeface="Arial" panose="020B0604020202020204" pitchFamily="34" charset="0"/>
              </a:rPr>
              <a:t>pose</a:t>
            </a:r>
            <a:r>
              <a:rPr lang="en-CA" sz="3200" spc="2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a:t>
            </a:r>
            <a:r>
              <a:rPr lang="en-CA" sz="3200" spc="2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threat</a:t>
            </a:r>
            <a:r>
              <a:rPr lang="en-CA" sz="3200" spc="20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23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many</a:t>
            </a:r>
            <a:r>
              <a:rPr lang="en-CA" sz="3200" spc="2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benefits</a:t>
            </a:r>
            <a:r>
              <a:rPr lang="en-CA" sz="3200" spc="2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provided</a:t>
            </a:r>
            <a:r>
              <a:rPr lang="en-CA" sz="3200" spc="2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by</a:t>
            </a:r>
            <a:r>
              <a:rPr lang="en-CA" sz="3200" spc="2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this</a:t>
            </a:r>
            <a:r>
              <a:rPr lang="en-CA" sz="3200" spc="217"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region</a:t>
            </a:r>
            <a:r>
              <a:rPr lang="en-CA" sz="3200" spc="217" dirty="0">
                <a:latin typeface="Montserrat" pitchFamily="2" charset="77"/>
                <a:cs typeface="Arial" panose="020B0604020202020204" pitchFamily="34" charset="0"/>
              </a:rPr>
              <a:t> </a:t>
            </a:r>
            <a:r>
              <a:rPr lang="en-CA" sz="3200" spc="-40" dirty="0">
                <a:latin typeface="Montserrat" pitchFamily="2" charset="77"/>
                <a:cs typeface="Arial" panose="020B0604020202020204" pitchFamily="34" charset="0"/>
              </a:rPr>
              <a:t>and </a:t>
            </a:r>
            <a:r>
              <a:rPr lang="en-CA" sz="3200" dirty="0">
                <a:latin typeface="Montserrat" pitchFamily="2" charset="77"/>
                <a:cs typeface="Arial" panose="020B0604020202020204" pitchFamily="34" charset="0"/>
              </a:rPr>
              <a:t>need</a:t>
            </a:r>
            <a:r>
              <a:rPr lang="en-CA" sz="3200" spc="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24" dirty="0">
                <a:latin typeface="Montserrat" pitchFamily="2" charset="77"/>
                <a:cs typeface="Arial" panose="020B0604020202020204" pitchFamily="34" charset="0"/>
              </a:rPr>
              <a:t>  </a:t>
            </a:r>
            <a:r>
              <a:rPr lang="en-CA" sz="3200" spc="81" dirty="0">
                <a:latin typeface="Montserrat" pitchFamily="2" charset="77"/>
                <a:cs typeface="Arial" panose="020B0604020202020204" pitchFamily="34" charset="0"/>
              </a:rPr>
              <a:t>be</a:t>
            </a:r>
            <a:r>
              <a:rPr lang="en-CA" sz="3200" spc="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further</a:t>
            </a:r>
            <a:r>
              <a:rPr lang="en-CA" sz="3200" spc="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investigated</a:t>
            </a:r>
            <a:r>
              <a:rPr lang="en-CA" sz="3200" spc="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understand</a:t>
            </a:r>
            <a:r>
              <a:rPr lang="en-CA" sz="3200" spc="16" dirty="0">
                <a:latin typeface="Montserrat" pitchFamily="2" charset="77"/>
                <a:cs typeface="Arial" panose="020B0604020202020204" pitchFamily="34" charset="0"/>
              </a:rPr>
              <a:t>  </a:t>
            </a:r>
            <a:r>
              <a:rPr lang="en-CA" sz="3200" spc="88" dirty="0">
                <a:latin typeface="Montserrat" pitchFamily="2" charset="77"/>
                <a:cs typeface="Arial" panose="020B0604020202020204" pitchFamily="34" charset="0"/>
              </a:rPr>
              <a:t>how</a:t>
            </a:r>
            <a:r>
              <a:rPr lang="en-CA" sz="3200" spc="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best</a:t>
            </a:r>
            <a:r>
              <a:rPr lang="en-CA" sz="3200" spc="16" dirty="0">
                <a:latin typeface="Montserrat" pitchFamily="2" charset="77"/>
                <a:cs typeface="Arial" panose="020B0604020202020204" pitchFamily="34" charset="0"/>
              </a:rPr>
              <a:t>  </a:t>
            </a:r>
            <a:r>
              <a:rPr lang="en-CA" sz="3200" spc="-40" dirty="0">
                <a:latin typeface="Montserrat" pitchFamily="2" charset="77"/>
                <a:cs typeface="Arial" panose="020B0604020202020204" pitchFamily="34" charset="0"/>
              </a:rPr>
              <a:t>to </a:t>
            </a:r>
            <a:r>
              <a:rPr lang="en-CA" sz="3200" dirty="0">
                <a:latin typeface="Montserrat" pitchFamily="2" charset="77"/>
                <a:cs typeface="Arial" panose="020B0604020202020204" pitchFamily="34" charset="0"/>
              </a:rPr>
              <a:t>mitigate</a:t>
            </a:r>
            <a:r>
              <a:rPr lang="en-CA" sz="3200" spc="20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the</a:t>
            </a:r>
            <a:r>
              <a:rPr lang="en-CA" sz="3200" spc="208"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effects</a:t>
            </a:r>
            <a:r>
              <a:rPr lang="en-CA" sz="3200" spc="-24" baseline="26315" dirty="0">
                <a:latin typeface="Montserrat" pitchFamily="2" charset="77"/>
                <a:cs typeface="Arial" panose="020B0604020202020204" pitchFamily="34" charset="0"/>
              </a:rPr>
              <a:t>3</a:t>
            </a:r>
            <a:r>
              <a:rPr lang="en-CA" sz="3200" spc="-16" dirty="0">
                <a:latin typeface="Montserrat" pitchFamily="2" charset="77"/>
                <a:cs typeface="Arial" panose="020B0604020202020204" pitchFamily="34" charset="0"/>
              </a:rPr>
              <a:t>.</a:t>
            </a:r>
            <a:r>
              <a:rPr lang="en-CA" sz="3200" spc="19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Direct</a:t>
            </a:r>
            <a:r>
              <a:rPr lang="en-CA" sz="3200" spc="20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measurement</a:t>
            </a:r>
            <a:r>
              <a:rPr lang="en-CA" sz="3200" spc="20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of</a:t>
            </a:r>
            <a:r>
              <a:rPr lang="en-CA" sz="3200" spc="20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soil</a:t>
            </a:r>
            <a:r>
              <a:rPr lang="en-CA" sz="3200" spc="201"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properties</a:t>
            </a:r>
            <a:r>
              <a:rPr lang="en-CA" sz="3200" spc="201" dirty="0">
                <a:latin typeface="Montserrat" pitchFamily="2" charset="77"/>
                <a:cs typeface="Arial" panose="020B0604020202020204" pitchFamily="34" charset="0"/>
              </a:rPr>
              <a:t> </a:t>
            </a:r>
            <a:r>
              <a:rPr lang="en-CA" sz="3200" spc="-40" dirty="0">
                <a:latin typeface="Montserrat" pitchFamily="2" charset="77"/>
                <a:cs typeface="Arial" panose="020B0604020202020204" pitchFamily="34" charset="0"/>
              </a:rPr>
              <a:t>can </a:t>
            </a:r>
            <a:r>
              <a:rPr lang="en-CA" sz="3200" spc="81" dirty="0">
                <a:latin typeface="Montserrat" pitchFamily="2" charset="77"/>
                <a:cs typeface="Arial" panose="020B0604020202020204" pitchFamily="34" charset="0"/>
              </a:rPr>
              <a:t>be</a:t>
            </a:r>
            <a:r>
              <a:rPr lang="en-CA" sz="3200" spc="39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costly</a:t>
            </a:r>
            <a:r>
              <a:rPr lang="en-CA" sz="3200" spc="39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and</a:t>
            </a:r>
            <a:r>
              <a:rPr lang="en-CA" sz="3200" spc="39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resource</a:t>
            </a:r>
            <a:r>
              <a:rPr lang="en-CA" sz="3200" spc="402"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intensive;</a:t>
            </a:r>
            <a:r>
              <a:rPr lang="en-CA" sz="3200" spc="39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however,</a:t>
            </a:r>
            <a:r>
              <a:rPr lang="en-CA" sz="3200" spc="39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model-</a:t>
            </a:r>
            <a:r>
              <a:rPr lang="en-CA" sz="3200" spc="-16" dirty="0">
                <a:latin typeface="Montserrat" pitchFamily="2" charset="77"/>
                <a:cs typeface="Arial" panose="020B0604020202020204" pitchFamily="34" charset="0"/>
              </a:rPr>
              <a:t>based </a:t>
            </a:r>
            <a:r>
              <a:rPr lang="en-CA" sz="3200" dirty="0">
                <a:latin typeface="Montserrat" pitchFamily="2" charset="77"/>
                <a:cs typeface="Arial" panose="020B0604020202020204" pitchFamily="34" charset="0"/>
              </a:rPr>
              <a:t>approaches</a:t>
            </a:r>
            <a:r>
              <a:rPr lang="en-CA" sz="3200" spc="-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offer</a:t>
            </a:r>
            <a:r>
              <a:rPr lang="en-CA" sz="3200" spc="-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an</a:t>
            </a:r>
            <a:r>
              <a:rPr lang="en-CA" sz="3200" spc="-16" dirty="0">
                <a:latin typeface="Montserrat" pitchFamily="2" charset="77"/>
                <a:cs typeface="Arial" panose="020B0604020202020204" pitchFamily="34" charset="0"/>
              </a:rPr>
              <a:t> alternative </a:t>
            </a:r>
            <a:r>
              <a:rPr lang="en-CA" sz="3200" dirty="0">
                <a:latin typeface="Montserrat" pitchFamily="2" charset="77"/>
                <a:cs typeface="Arial" panose="020B0604020202020204" pitchFamily="34" charset="0"/>
              </a:rPr>
              <a:t>by</a:t>
            </a:r>
            <a:r>
              <a:rPr lang="en-CA" sz="3200" spc="-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using</a:t>
            </a:r>
            <a:r>
              <a:rPr lang="en-CA" sz="3200" spc="-16"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existing</a:t>
            </a:r>
            <a:r>
              <a:rPr lang="en-CA" sz="3200" spc="-2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weather</a:t>
            </a:r>
            <a:r>
              <a:rPr lang="en-CA" sz="3200" spc="-8"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station </a:t>
            </a:r>
            <a:r>
              <a:rPr lang="en-CA" sz="3200" dirty="0">
                <a:latin typeface="Montserrat" pitchFamily="2" charset="77"/>
                <a:cs typeface="Arial" panose="020B0604020202020204" pitchFamily="34" charset="0"/>
              </a:rPr>
              <a:t>data</a:t>
            </a:r>
            <a:r>
              <a:rPr lang="en-CA" sz="3200" spc="-113"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to</a:t>
            </a:r>
            <a:r>
              <a:rPr lang="en-CA" sz="3200" spc="-88"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represent</a:t>
            </a:r>
            <a:r>
              <a:rPr lang="en-CA" sz="3200" spc="-104" dirty="0">
                <a:latin typeface="Montserrat" pitchFamily="2" charset="77"/>
                <a:cs typeface="Arial" panose="020B0604020202020204" pitchFamily="34" charset="0"/>
              </a:rPr>
              <a:t> </a:t>
            </a:r>
            <a:r>
              <a:rPr lang="en-CA" sz="3200" dirty="0">
                <a:latin typeface="Montserrat" pitchFamily="2" charset="77"/>
                <a:cs typeface="Arial" panose="020B0604020202020204" pitchFamily="34" charset="0"/>
              </a:rPr>
              <a:t>hydrological</a:t>
            </a:r>
            <a:r>
              <a:rPr lang="en-CA" sz="3200" spc="-97" dirty="0">
                <a:latin typeface="Montserrat" pitchFamily="2" charset="77"/>
                <a:cs typeface="Arial" panose="020B0604020202020204" pitchFamily="34" charset="0"/>
              </a:rPr>
              <a:t> </a:t>
            </a:r>
            <a:r>
              <a:rPr lang="en-CA" sz="3200" spc="-16" dirty="0">
                <a:latin typeface="Montserrat" pitchFamily="2" charset="77"/>
                <a:cs typeface="Arial" panose="020B0604020202020204" pitchFamily="34" charset="0"/>
              </a:rPr>
              <a:t>processes</a:t>
            </a:r>
            <a:r>
              <a:rPr lang="en-CA" sz="3200" spc="-24" baseline="26315" dirty="0">
                <a:latin typeface="Montserrat" pitchFamily="2" charset="77"/>
                <a:cs typeface="Arial" panose="020B0604020202020204" pitchFamily="34" charset="0"/>
              </a:rPr>
              <a:t>4</a:t>
            </a:r>
            <a:r>
              <a:rPr lang="en-CA" sz="3200" spc="-16" dirty="0">
                <a:latin typeface="Montserrat" pitchFamily="2" charset="77"/>
                <a:cs typeface="Arial" panose="020B0604020202020204" pitchFamily="34" charset="0"/>
              </a:rPr>
              <a:t>. </a:t>
            </a:r>
            <a:r>
              <a:rPr lang="en-CA" sz="3200" b="1" spc="81" dirty="0">
                <a:latin typeface="Montserrat" pitchFamily="2" charset="77"/>
                <a:cs typeface="Arial" panose="020B0604020202020204" pitchFamily="34" charset="0"/>
              </a:rPr>
              <a:t>The</a:t>
            </a:r>
            <a:r>
              <a:rPr lang="en-CA" sz="3200" b="1" spc="273" dirty="0">
                <a:latin typeface="Montserrat" pitchFamily="2" charset="77"/>
                <a:cs typeface="Arial" panose="020B0604020202020204" pitchFamily="34" charset="0"/>
              </a:rPr>
              <a:t> </a:t>
            </a:r>
            <a:r>
              <a:rPr lang="en-CA" sz="3200" b="1" spc="113" dirty="0">
                <a:latin typeface="Montserrat" pitchFamily="2" charset="77"/>
                <a:cs typeface="Arial" panose="020B0604020202020204" pitchFamily="34" charset="0"/>
              </a:rPr>
              <a:t>model</a:t>
            </a:r>
            <a:r>
              <a:rPr lang="en-CA" sz="3200" b="1" spc="273" dirty="0">
                <a:latin typeface="Montserrat" pitchFamily="2" charset="77"/>
                <a:cs typeface="Arial" panose="020B0604020202020204" pitchFamily="34" charset="0"/>
              </a:rPr>
              <a:t> </a:t>
            </a:r>
            <a:r>
              <a:rPr lang="en-CA" sz="3200" b="1" spc="81" dirty="0">
                <a:latin typeface="Montserrat" pitchFamily="2" charset="77"/>
                <a:cs typeface="Arial" panose="020B0604020202020204" pitchFamily="34" charset="0"/>
              </a:rPr>
              <a:t>presented</a:t>
            </a:r>
            <a:r>
              <a:rPr lang="en-CA" sz="3200" b="1" spc="281"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here</a:t>
            </a:r>
            <a:r>
              <a:rPr lang="en-CA" sz="3200" b="1" spc="281"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uses</a:t>
            </a:r>
            <a:r>
              <a:rPr lang="en-CA" sz="3200" b="1" spc="273" dirty="0">
                <a:latin typeface="Montserrat" pitchFamily="2" charset="77"/>
                <a:cs typeface="Arial" panose="020B0604020202020204" pitchFamily="34" charset="0"/>
              </a:rPr>
              <a:t> </a:t>
            </a:r>
            <a:r>
              <a:rPr lang="en-CA" sz="3200" b="1" spc="72" dirty="0">
                <a:latin typeface="Montserrat" pitchFamily="2" charset="77"/>
                <a:cs typeface="Arial" panose="020B0604020202020204" pitchFamily="34" charset="0"/>
              </a:rPr>
              <a:t>meteorological</a:t>
            </a:r>
            <a:r>
              <a:rPr lang="en-CA" sz="3200" b="1" spc="281"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data</a:t>
            </a:r>
            <a:r>
              <a:rPr lang="en-CA" sz="3200" b="1" spc="273"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from</a:t>
            </a:r>
            <a:r>
              <a:rPr lang="en-CA" sz="3200" b="1" spc="281" dirty="0">
                <a:latin typeface="Montserrat" pitchFamily="2" charset="77"/>
                <a:cs typeface="Arial" panose="020B0604020202020204" pitchFamily="34" charset="0"/>
              </a:rPr>
              <a:t> </a:t>
            </a:r>
            <a:r>
              <a:rPr lang="en-CA" sz="3200" b="1" spc="56" dirty="0">
                <a:latin typeface="Montserrat" pitchFamily="2" charset="77"/>
                <a:cs typeface="Arial" panose="020B0604020202020204" pitchFamily="34" charset="0"/>
              </a:rPr>
              <a:t>the </a:t>
            </a:r>
            <a:r>
              <a:rPr lang="en-CA" sz="3200" b="1" spc="72" dirty="0">
                <a:latin typeface="Montserrat" pitchFamily="2" charset="77"/>
                <a:cs typeface="Arial" panose="020B0604020202020204" pitchFamily="34" charset="0"/>
              </a:rPr>
              <a:t>Lethbridge,</a:t>
            </a:r>
            <a:r>
              <a:rPr lang="en-CA" sz="3200" b="1" spc="578" dirty="0">
                <a:latin typeface="Montserrat" pitchFamily="2" charset="77"/>
                <a:cs typeface="Arial" panose="020B0604020202020204" pitchFamily="34" charset="0"/>
              </a:rPr>
              <a:t>  </a:t>
            </a:r>
            <a:r>
              <a:rPr lang="en-CA" sz="3200" b="1" spc="183" dirty="0">
                <a:latin typeface="Montserrat" pitchFamily="2" charset="77"/>
                <a:cs typeface="Arial" panose="020B0604020202020204" pitchFamily="34" charset="0"/>
              </a:rPr>
              <a:t>AB</a:t>
            </a:r>
            <a:r>
              <a:rPr lang="en-CA" sz="3200" b="1" spc="578"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weather</a:t>
            </a:r>
            <a:r>
              <a:rPr lang="en-CA" sz="3200" b="1" spc="578"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station</a:t>
            </a:r>
            <a:r>
              <a:rPr lang="en-CA" sz="3200" b="1" baseline="26315" dirty="0">
                <a:latin typeface="Montserrat" pitchFamily="2" charset="77"/>
                <a:cs typeface="Arial" panose="020B0604020202020204" pitchFamily="34" charset="0"/>
              </a:rPr>
              <a:t>5</a:t>
            </a:r>
            <a:r>
              <a:rPr lang="en-CA" sz="3200" b="1" spc="590" baseline="26315"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to</a:t>
            </a:r>
            <a:r>
              <a:rPr lang="en-CA" sz="3200" b="1" spc="594"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simulate</a:t>
            </a:r>
            <a:r>
              <a:rPr lang="en-CA" sz="3200" b="1" spc="578"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daily</a:t>
            </a:r>
            <a:r>
              <a:rPr lang="en-CA" sz="3200" b="1" spc="578" dirty="0">
                <a:latin typeface="Montserrat" pitchFamily="2" charset="77"/>
                <a:cs typeface="Arial" panose="020B0604020202020204" pitchFamily="34" charset="0"/>
              </a:rPr>
              <a:t>  </a:t>
            </a:r>
            <a:r>
              <a:rPr lang="en-CA" sz="3200" b="1" spc="-32" dirty="0">
                <a:latin typeface="Montserrat" pitchFamily="2" charset="77"/>
                <a:cs typeface="Arial" panose="020B0604020202020204" pitchFamily="34" charset="0"/>
              </a:rPr>
              <a:t>soil </a:t>
            </a:r>
            <a:r>
              <a:rPr lang="en-CA" sz="3200" b="1" spc="72" dirty="0">
                <a:latin typeface="Montserrat" pitchFamily="2" charset="77"/>
                <a:cs typeface="Arial" panose="020B0604020202020204" pitchFamily="34" charset="0"/>
              </a:rPr>
              <a:t>moisture</a:t>
            </a:r>
            <a:r>
              <a:rPr lang="en-CA" sz="3200" b="1" spc="104"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over</a:t>
            </a:r>
            <a:r>
              <a:rPr lang="en-CA" sz="3200" b="1" spc="104" dirty="0">
                <a:latin typeface="Montserrat" pitchFamily="2" charset="77"/>
                <a:cs typeface="Arial" panose="020B0604020202020204" pitchFamily="34" charset="0"/>
              </a:rPr>
              <a:t> </a:t>
            </a:r>
            <a:r>
              <a:rPr lang="en-CA" sz="3200" b="1" dirty="0">
                <a:latin typeface="Montserrat" pitchFamily="2" charset="77"/>
                <a:cs typeface="Arial" panose="020B0604020202020204" pitchFamily="34" charset="0"/>
              </a:rPr>
              <a:t>a</a:t>
            </a:r>
            <a:r>
              <a:rPr lang="en-CA" sz="3200" b="1" spc="104" dirty="0">
                <a:latin typeface="Montserrat" pitchFamily="2" charset="77"/>
                <a:cs typeface="Arial" panose="020B0604020202020204" pitchFamily="34" charset="0"/>
              </a:rPr>
              <a:t> 12-year </a:t>
            </a:r>
            <a:r>
              <a:rPr lang="en-CA" sz="3200" b="1" dirty="0">
                <a:latin typeface="Montserrat" pitchFamily="2" charset="77"/>
                <a:cs typeface="Arial" panose="020B0604020202020204" pitchFamily="34" charset="0"/>
              </a:rPr>
              <a:t>period</a:t>
            </a:r>
            <a:r>
              <a:rPr lang="en-CA" sz="3200" b="1" spc="104" dirty="0">
                <a:latin typeface="Montserrat" pitchFamily="2" charset="77"/>
                <a:cs typeface="Arial" panose="020B0604020202020204" pitchFamily="34" charset="0"/>
              </a:rPr>
              <a:t> </a:t>
            </a:r>
            <a:r>
              <a:rPr lang="en-CA" sz="3200" b="1" spc="-145" dirty="0">
                <a:latin typeface="Montserrat" pitchFamily="2" charset="77"/>
                <a:cs typeface="Arial" panose="020B0604020202020204" pitchFamily="34" charset="0"/>
              </a:rPr>
              <a:t>(2014</a:t>
            </a:r>
            <a:r>
              <a:rPr lang="en-CA" sz="3200" b="1" spc="97" dirty="0">
                <a:latin typeface="Montserrat" pitchFamily="2" charset="77"/>
                <a:cs typeface="Arial" panose="020B0604020202020204" pitchFamily="34" charset="0"/>
              </a:rPr>
              <a:t> </a:t>
            </a:r>
            <a:r>
              <a:rPr lang="en-CA" sz="3200" b="1" spc="-321" dirty="0">
                <a:latin typeface="Montserrat" pitchFamily="2" charset="77"/>
                <a:cs typeface="Arial" panose="020B0604020202020204" pitchFamily="34" charset="0"/>
              </a:rPr>
              <a:t>–</a:t>
            </a:r>
            <a:r>
              <a:rPr lang="en-CA" sz="3200" b="1" spc="104" dirty="0">
                <a:latin typeface="Montserrat" pitchFamily="2" charset="77"/>
                <a:cs typeface="Arial" panose="020B0604020202020204" pitchFamily="34" charset="0"/>
              </a:rPr>
              <a:t> </a:t>
            </a:r>
            <a:r>
              <a:rPr lang="en-CA" sz="3200" b="1" spc="-16" dirty="0">
                <a:latin typeface="Montserrat" pitchFamily="2" charset="77"/>
                <a:cs typeface="Arial" panose="020B0604020202020204" pitchFamily="34" charset="0"/>
              </a:rPr>
              <a:t>2026).</a:t>
            </a:r>
            <a:endParaRPr lang="en-CA" sz="3200" dirty="0">
              <a:latin typeface="Montserrat" pitchFamily="2" charset="77"/>
              <a:cs typeface="Arial" panose="020B0604020202020204" pitchFamily="34" charset="0"/>
            </a:endParaRPr>
          </a:p>
        </p:txBody>
      </p:sp>
      <p:sp>
        <p:nvSpPr>
          <p:cNvPr id="11" name="TextBox 10">
            <a:extLst>
              <a:ext uri="{FF2B5EF4-FFF2-40B4-BE49-F238E27FC236}">
                <a16:creationId xmlns:a16="http://schemas.microsoft.com/office/drawing/2014/main" id="{A467B869-F2E7-ADC8-1407-F9ABF0E1D4D2}"/>
              </a:ext>
            </a:extLst>
          </p:cNvPr>
          <p:cNvSpPr txBox="1"/>
          <p:nvPr/>
        </p:nvSpPr>
        <p:spPr>
          <a:xfrm>
            <a:off x="678212" y="13863309"/>
            <a:ext cx="7020640" cy="861774"/>
          </a:xfrm>
          <a:prstGeom prst="rect">
            <a:avLst/>
          </a:prstGeom>
          <a:noFill/>
        </p:spPr>
        <p:txBody>
          <a:bodyPr wrap="square" rtlCol="0">
            <a:spAutoFit/>
          </a:bodyPr>
          <a:lstStyle/>
          <a:p>
            <a:r>
              <a:rPr lang="en-US" sz="5000" b="1" dirty="0">
                <a:latin typeface="Helvetica" pitchFamily="2" charset="0"/>
              </a:rPr>
              <a:t>APPROACH</a:t>
            </a:r>
          </a:p>
        </p:txBody>
      </p:sp>
      <p:sp>
        <p:nvSpPr>
          <p:cNvPr id="16" name="TextBox 15">
            <a:extLst>
              <a:ext uri="{FF2B5EF4-FFF2-40B4-BE49-F238E27FC236}">
                <a16:creationId xmlns:a16="http://schemas.microsoft.com/office/drawing/2014/main" id="{389DA9CD-75A5-F6B4-26F3-FEF516BFAB72}"/>
              </a:ext>
            </a:extLst>
          </p:cNvPr>
          <p:cNvSpPr txBox="1"/>
          <p:nvPr/>
        </p:nvSpPr>
        <p:spPr>
          <a:xfrm>
            <a:off x="678212" y="26015183"/>
            <a:ext cx="14987822" cy="1229696"/>
          </a:xfrm>
          <a:prstGeom prst="rect">
            <a:avLst/>
          </a:prstGeom>
          <a:noFill/>
        </p:spPr>
        <p:txBody>
          <a:bodyPr wrap="square">
            <a:spAutoFit/>
          </a:bodyPr>
          <a:lstStyle/>
          <a:p>
            <a:pPr marL="61187" marR="48949" algn="just">
              <a:lnSpc>
                <a:spcPct val="103600"/>
              </a:lnSpc>
              <a:spcBef>
                <a:spcPts val="145"/>
              </a:spcBef>
            </a:pPr>
            <a:r>
              <a:rPr lang="en-CA" b="1" dirty="0">
                <a:latin typeface="Montserrat" pitchFamily="2" charset="77"/>
                <a:cs typeface="Verdana"/>
              </a:rPr>
              <a:t>Figure 1. Conceptual diagram of the daily water balance bucket model based on Rodriguez-Iturbe et al.</a:t>
            </a:r>
            <a:r>
              <a:rPr lang="en-CA" b="1" baseline="30000" dirty="0">
                <a:latin typeface="Montserrat" pitchFamily="2" charset="77"/>
                <a:cs typeface="Verdana"/>
              </a:rPr>
              <a:t>6</a:t>
            </a:r>
            <a:r>
              <a:rPr lang="en-CA" b="1" dirty="0">
                <a:latin typeface="Montserrat" pitchFamily="2" charset="77"/>
                <a:cs typeface="Verdana"/>
              </a:rPr>
              <a:t> </a:t>
            </a:r>
            <a:r>
              <a:rPr lang="en-CA" dirty="0">
                <a:latin typeface="Montserrat" pitchFamily="2" charset="77"/>
                <a:cs typeface="Verdana"/>
              </a:rPr>
              <a:t>Precipitation enters the root zone storage, which is depleted by evapotranspiration, estimated using the Hargreaves method and adjusted for cloud cover. Drainage is applied when storage exceeds field capacity. The stress threshold represents the minimum storage level before ET₀ is scaled down to reflect reduced plant water availability.</a:t>
            </a:r>
          </a:p>
        </p:txBody>
      </p:sp>
      <p:sp>
        <p:nvSpPr>
          <p:cNvPr id="17" name="TextBox 16">
            <a:extLst>
              <a:ext uri="{FF2B5EF4-FFF2-40B4-BE49-F238E27FC236}">
                <a16:creationId xmlns:a16="http://schemas.microsoft.com/office/drawing/2014/main" id="{740E43C8-9D37-B44E-77F4-4BFBAF224ABB}"/>
              </a:ext>
            </a:extLst>
          </p:cNvPr>
          <p:cNvSpPr txBox="1"/>
          <p:nvPr/>
        </p:nvSpPr>
        <p:spPr>
          <a:xfrm>
            <a:off x="16608297" y="4920515"/>
            <a:ext cx="7020640" cy="861774"/>
          </a:xfrm>
          <a:prstGeom prst="rect">
            <a:avLst/>
          </a:prstGeom>
          <a:noFill/>
        </p:spPr>
        <p:txBody>
          <a:bodyPr wrap="square" rtlCol="0">
            <a:spAutoFit/>
          </a:bodyPr>
          <a:lstStyle/>
          <a:p>
            <a:r>
              <a:rPr lang="en-US" sz="5000" b="1" dirty="0">
                <a:latin typeface="Helvetica" pitchFamily="2" charset="0"/>
              </a:rPr>
              <a:t>ASSUMPTIONS</a:t>
            </a:r>
          </a:p>
        </p:txBody>
      </p:sp>
      <p:sp>
        <p:nvSpPr>
          <p:cNvPr id="18" name="TextBox 17">
            <a:extLst>
              <a:ext uri="{FF2B5EF4-FFF2-40B4-BE49-F238E27FC236}">
                <a16:creationId xmlns:a16="http://schemas.microsoft.com/office/drawing/2014/main" id="{44ADD98B-2B48-CA7D-DA57-FE6000EE612C}"/>
              </a:ext>
            </a:extLst>
          </p:cNvPr>
          <p:cNvSpPr txBox="1"/>
          <p:nvPr/>
        </p:nvSpPr>
        <p:spPr>
          <a:xfrm>
            <a:off x="16328770" y="5898155"/>
            <a:ext cx="15042737" cy="4968632"/>
          </a:xfrm>
          <a:prstGeom prst="rect">
            <a:avLst/>
          </a:prstGeom>
          <a:noFill/>
          <a:ln>
            <a:noFill/>
          </a:ln>
        </p:spPr>
        <p:txBody>
          <a:bodyPr wrap="square" lIns="334172" tIns="167086" rIns="334172" bIns="167086" rtlCol="0">
            <a:noAutofit/>
          </a:bodyPr>
          <a:lstStyle/>
          <a:p>
            <a:pPr marL="355904" marR="8158" indent="-336528">
              <a:lnSpc>
                <a:spcPct val="102299"/>
              </a:lnSpc>
              <a:spcBef>
                <a:spcPts val="2064"/>
              </a:spcBef>
              <a:buSzPct val="124137"/>
              <a:buFont typeface="Arial MT"/>
              <a:buChar char="•"/>
              <a:tabLst>
                <a:tab pos="355904" algn="l"/>
              </a:tabLst>
            </a:pPr>
            <a:r>
              <a:rPr lang="en-CA" sz="3200" b="1" dirty="0">
                <a:latin typeface="Montserrat" pitchFamily="2" charset="77"/>
                <a:cs typeface="Tahoma"/>
              </a:rPr>
              <a:t>Soil</a:t>
            </a:r>
            <a:r>
              <a:rPr lang="en-CA" sz="3200" b="1" spc="145" dirty="0">
                <a:latin typeface="Montserrat" pitchFamily="2" charset="77"/>
                <a:cs typeface="Tahoma"/>
              </a:rPr>
              <a:t> </a:t>
            </a:r>
            <a:r>
              <a:rPr lang="en-CA" sz="3200" b="1" dirty="0">
                <a:latin typeface="Montserrat" pitchFamily="2" charset="77"/>
                <a:cs typeface="Tahoma"/>
              </a:rPr>
              <a:t>properties</a:t>
            </a:r>
            <a:r>
              <a:rPr lang="en-CA" sz="3200" b="1" spc="153" dirty="0">
                <a:latin typeface="Montserrat" pitchFamily="2" charset="77"/>
                <a:cs typeface="Tahoma"/>
              </a:rPr>
              <a:t> </a:t>
            </a:r>
            <a:r>
              <a:rPr lang="en-CA" sz="3200" b="1" dirty="0">
                <a:latin typeface="Montserrat" pitchFamily="2" charset="77"/>
                <a:cs typeface="Tahoma"/>
              </a:rPr>
              <a:t>are</a:t>
            </a:r>
            <a:r>
              <a:rPr lang="en-CA" sz="3200" b="1" spc="161" dirty="0">
                <a:latin typeface="Montserrat" pitchFamily="2" charset="77"/>
                <a:cs typeface="Tahoma"/>
              </a:rPr>
              <a:t> </a:t>
            </a:r>
            <a:r>
              <a:rPr lang="en-CA" sz="3200" b="1" spc="72" dirty="0">
                <a:latin typeface="Montserrat" pitchFamily="2" charset="77"/>
                <a:cs typeface="Tahoma"/>
              </a:rPr>
              <a:t>uniform</a:t>
            </a:r>
            <a:r>
              <a:rPr lang="en-CA" sz="3200" b="1" spc="161" dirty="0">
                <a:latin typeface="Montserrat" pitchFamily="2" charset="77"/>
                <a:cs typeface="Tahoma"/>
              </a:rPr>
              <a:t> </a:t>
            </a:r>
            <a:r>
              <a:rPr lang="en-CA" sz="3200" b="1" spc="113" dirty="0">
                <a:latin typeface="Montserrat" pitchFamily="2" charset="77"/>
                <a:cs typeface="Tahoma"/>
              </a:rPr>
              <a:t>and</a:t>
            </a:r>
            <a:r>
              <a:rPr lang="en-CA" sz="3200" b="1" spc="145" dirty="0">
                <a:latin typeface="Montserrat" pitchFamily="2" charset="77"/>
                <a:cs typeface="Tahoma"/>
              </a:rPr>
              <a:t> </a:t>
            </a:r>
            <a:r>
              <a:rPr lang="en-CA" sz="3200" b="1" dirty="0">
                <a:latin typeface="Montserrat" pitchFamily="2" charset="77"/>
                <a:cs typeface="Tahoma"/>
              </a:rPr>
              <a:t>static</a:t>
            </a:r>
            <a:r>
              <a:rPr lang="en-CA" sz="3200" b="1" spc="136" dirty="0">
                <a:latin typeface="Montserrat" pitchFamily="2" charset="77"/>
                <a:cs typeface="Tahoma"/>
              </a:rPr>
              <a:t> </a:t>
            </a:r>
            <a:r>
              <a:rPr lang="en-CA" sz="3200" spc="136" dirty="0">
                <a:latin typeface="Montserrat" pitchFamily="2" charset="77"/>
                <a:cs typeface="Tahoma"/>
              </a:rPr>
              <a:t>– fi</a:t>
            </a:r>
            <a:r>
              <a:rPr lang="en-CA" sz="3200" dirty="0">
                <a:latin typeface="Montserrat" pitchFamily="2" charset="77"/>
                <a:cs typeface="Verdana"/>
              </a:rPr>
              <a:t>eld</a:t>
            </a:r>
            <a:r>
              <a:rPr lang="en-CA" sz="3200" spc="-40" dirty="0">
                <a:latin typeface="Montserrat" pitchFamily="2" charset="77"/>
                <a:cs typeface="Verdana"/>
              </a:rPr>
              <a:t> </a:t>
            </a:r>
            <a:r>
              <a:rPr lang="en-CA" sz="3200" spc="-56" dirty="0">
                <a:latin typeface="Montserrat" pitchFamily="2" charset="77"/>
                <a:cs typeface="Verdana"/>
              </a:rPr>
              <a:t>capacity,</a:t>
            </a:r>
            <a:r>
              <a:rPr lang="en-CA" sz="3200" spc="-40" dirty="0">
                <a:latin typeface="Montserrat" pitchFamily="2" charset="77"/>
                <a:cs typeface="Verdana"/>
              </a:rPr>
              <a:t> </a:t>
            </a:r>
            <a:r>
              <a:rPr lang="en-CA" sz="3200" spc="-16" dirty="0">
                <a:latin typeface="Montserrat" pitchFamily="2" charset="77"/>
                <a:cs typeface="Verdana"/>
              </a:rPr>
              <a:t>drainage </a:t>
            </a:r>
            <a:r>
              <a:rPr lang="en-CA" sz="3200" dirty="0">
                <a:latin typeface="Montserrat" pitchFamily="2" charset="77"/>
                <a:cs typeface="Verdana"/>
              </a:rPr>
              <a:t>coefficient,</a:t>
            </a:r>
            <a:r>
              <a:rPr lang="en-CA" sz="3200" spc="-113" dirty="0">
                <a:latin typeface="Montserrat" pitchFamily="2" charset="77"/>
                <a:cs typeface="Verdana"/>
              </a:rPr>
              <a:t> </a:t>
            </a:r>
            <a:r>
              <a:rPr lang="en-CA" sz="3200" dirty="0">
                <a:latin typeface="Montserrat" pitchFamily="2" charset="77"/>
                <a:cs typeface="Verdana"/>
              </a:rPr>
              <a:t>and</a:t>
            </a:r>
            <a:r>
              <a:rPr lang="en-CA" sz="3200" spc="-97" dirty="0">
                <a:latin typeface="Montserrat" pitchFamily="2" charset="77"/>
                <a:cs typeface="Verdana"/>
              </a:rPr>
              <a:t> </a:t>
            </a:r>
            <a:r>
              <a:rPr lang="en-CA" sz="3200" dirty="0">
                <a:latin typeface="Montserrat" pitchFamily="2" charset="77"/>
                <a:cs typeface="Verdana"/>
              </a:rPr>
              <a:t>root</a:t>
            </a:r>
            <a:r>
              <a:rPr lang="en-CA" sz="3200" spc="-113" dirty="0">
                <a:latin typeface="Montserrat" pitchFamily="2" charset="77"/>
                <a:cs typeface="Verdana"/>
              </a:rPr>
              <a:t> </a:t>
            </a:r>
            <a:r>
              <a:rPr lang="en-CA" sz="3200" dirty="0">
                <a:latin typeface="Montserrat" pitchFamily="2" charset="77"/>
                <a:cs typeface="Verdana"/>
              </a:rPr>
              <a:t>zone</a:t>
            </a:r>
            <a:r>
              <a:rPr lang="en-CA" sz="3200" spc="-97" dirty="0">
                <a:latin typeface="Montserrat" pitchFamily="2" charset="77"/>
                <a:cs typeface="Verdana"/>
              </a:rPr>
              <a:t> </a:t>
            </a:r>
            <a:r>
              <a:rPr lang="en-CA" sz="3200" spc="88" dirty="0">
                <a:latin typeface="Montserrat" pitchFamily="2" charset="77"/>
                <a:cs typeface="Verdana"/>
              </a:rPr>
              <a:t>depth</a:t>
            </a:r>
            <a:r>
              <a:rPr lang="en-CA" sz="3200" spc="-104" dirty="0">
                <a:latin typeface="Montserrat" pitchFamily="2" charset="77"/>
                <a:cs typeface="Verdana"/>
              </a:rPr>
              <a:t> </a:t>
            </a:r>
            <a:r>
              <a:rPr lang="en-CA" sz="3200" spc="-48" dirty="0">
                <a:latin typeface="Montserrat" pitchFamily="2" charset="77"/>
                <a:cs typeface="Verdana"/>
              </a:rPr>
              <a:t>are</a:t>
            </a:r>
            <a:r>
              <a:rPr lang="en-CA" sz="3200" spc="-104" dirty="0">
                <a:latin typeface="Montserrat" pitchFamily="2" charset="77"/>
                <a:cs typeface="Verdana"/>
              </a:rPr>
              <a:t> </a:t>
            </a:r>
            <a:r>
              <a:rPr lang="en-CA" sz="3200" spc="-16" dirty="0">
                <a:latin typeface="Montserrat" pitchFamily="2" charset="77"/>
                <a:cs typeface="Verdana"/>
              </a:rPr>
              <a:t>constant</a:t>
            </a:r>
            <a:endParaRPr lang="en-CA" sz="3200" dirty="0">
              <a:latin typeface="Montserrat" pitchFamily="2" charset="77"/>
              <a:cs typeface="Verdana"/>
            </a:endParaRPr>
          </a:p>
          <a:p>
            <a:pPr marL="355904" indent="-335508">
              <a:spcBef>
                <a:spcPts val="1622"/>
              </a:spcBef>
              <a:buSzPct val="124137"/>
              <a:buFont typeface="Arial MT"/>
              <a:buChar char="•"/>
              <a:tabLst>
                <a:tab pos="355904" algn="l"/>
              </a:tabLst>
            </a:pPr>
            <a:r>
              <a:rPr lang="en-CA" sz="3200" b="1" dirty="0">
                <a:latin typeface="Montserrat" pitchFamily="2" charset="77"/>
                <a:cs typeface="Tahoma"/>
              </a:rPr>
              <a:t>Precipitation</a:t>
            </a:r>
            <a:r>
              <a:rPr lang="en-CA" sz="3200" b="1" spc="241" dirty="0">
                <a:latin typeface="Montserrat" pitchFamily="2" charset="77"/>
                <a:cs typeface="Tahoma"/>
              </a:rPr>
              <a:t> </a:t>
            </a:r>
            <a:r>
              <a:rPr lang="en-CA" sz="3200" b="1" dirty="0">
                <a:latin typeface="Montserrat" pitchFamily="2" charset="77"/>
                <a:cs typeface="Tahoma"/>
              </a:rPr>
              <a:t>falls</a:t>
            </a:r>
            <a:r>
              <a:rPr lang="en-CA" sz="3200" b="1" spc="249" dirty="0">
                <a:latin typeface="Montserrat" pitchFamily="2" charset="77"/>
                <a:cs typeface="Tahoma"/>
              </a:rPr>
              <a:t> </a:t>
            </a:r>
            <a:r>
              <a:rPr lang="en-CA" sz="3200" b="1" dirty="0">
                <a:latin typeface="Montserrat" pitchFamily="2" charset="77"/>
                <a:cs typeface="Tahoma"/>
              </a:rPr>
              <a:t>as</a:t>
            </a:r>
            <a:r>
              <a:rPr lang="en-CA" sz="3200" b="1" spc="249" dirty="0">
                <a:latin typeface="Montserrat" pitchFamily="2" charset="77"/>
                <a:cs typeface="Tahoma"/>
              </a:rPr>
              <a:t> </a:t>
            </a:r>
            <a:r>
              <a:rPr lang="en-CA" sz="3200" b="1" dirty="0">
                <a:latin typeface="Montserrat" pitchFamily="2" charset="77"/>
                <a:cs typeface="Tahoma"/>
              </a:rPr>
              <a:t>rain</a:t>
            </a:r>
            <a:r>
              <a:rPr lang="en-CA" sz="3200" b="1" spc="169" dirty="0">
                <a:latin typeface="Montserrat" pitchFamily="2" charset="77"/>
                <a:cs typeface="Tahoma"/>
              </a:rPr>
              <a:t> – </a:t>
            </a:r>
            <a:r>
              <a:rPr lang="en-CA" sz="3200" dirty="0">
                <a:latin typeface="Montserrat" pitchFamily="2" charset="77"/>
                <a:cs typeface="Verdana"/>
              </a:rPr>
              <a:t>snowmelt</a:t>
            </a:r>
            <a:r>
              <a:rPr lang="en-CA" sz="3200" spc="48" dirty="0">
                <a:latin typeface="Montserrat" pitchFamily="2" charset="77"/>
                <a:cs typeface="Verdana"/>
              </a:rPr>
              <a:t> </a:t>
            </a:r>
            <a:r>
              <a:rPr lang="en-CA" sz="3200" spc="-48" dirty="0">
                <a:latin typeface="Montserrat" pitchFamily="2" charset="77"/>
                <a:cs typeface="Verdana"/>
              </a:rPr>
              <a:t>is</a:t>
            </a:r>
            <a:r>
              <a:rPr lang="en-CA" sz="3200" spc="40" dirty="0">
                <a:latin typeface="Montserrat" pitchFamily="2" charset="77"/>
                <a:cs typeface="Verdana"/>
              </a:rPr>
              <a:t> </a:t>
            </a:r>
            <a:r>
              <a:rPr lang="en-CA" sz="3200" dirty="0">
                <a:latin typeface="Montserrat" pitchFamily="2" charset="77"/>
                <a:cs typeface="Verdana"/>
              </a:rPr>
              <a:t>not</a:t>
            </a:r>
            <a:r>
              <a:rPr lang="en-CA" sz="3200" spc="48" dirty="0">
                <a:latin typeface="Montserrat" pitchFamily="2" charset="77"/>
                <a:cs typeface="Verdana"/>
              </a:rPr>
              <a:t> modeled</a:t>
            </a:r>
            <a:endParaRPr lang="en-CA" sz="3200" dirty="0">
              <a:latin typeface="Montserrat" pitchFamily="2" charset="77"/>
              <a:cs typeface="Verdana"/>
            </a:endParaRPr>
          </a:p>
          <a:p>
            <a:pPr marL="355904" indent="-335508">
              <a:spcBef>
                <a:spcPts val="1614"/>
              </a:spcBef>
              <a:buSzPct val="124137"/>
              <a:buFont typeface="Arial MT"/>
              <a:buChar char="•"/>
              <a:tabLst>
                <a:tab pos="355904" algn="l"/>
              </a:tabLst>
            </a:pPr>
            <a:r>
              <a:rPr lang="en-CA" sz="3200" b="1" dirty="0">
                <a:latin typeface="Montserrat" pitchFamily="2" charset="77"/>
                <a:cs typeface="Tahoma"/>
              </a:rPr>
              <a:t>Root</a:t>
            </a:r>
            <a:r>
              <a:rPr lang="en-CA" sz="3200" b="1" spc="48" dirty="0">
                <a:latin typeface="Montserrat" pitchFamily="2" charset="77"/>
                <a:cs typeface="Tahoma"/>
              </a:rPr>
              <a:t> </a:t>
            </a:r>
            <a:r>
              <a:rPr lang="en-CA" sz="3200" b="1" spc="81" dirty="0">
                <a:latin typeface="Montserrat" pitchFamily="2" charset="77"/>
                <a:cs typeface="Tahoma"/>
              </a:rPr>
              <a:t>zone</a:t>
            </a:r>
            <a:r>
              <a:rPr lang="en-CA" sz="3200" b="1" spc="56" dirty="0">
                <a:latin typeface="Montserrat" pitchFamily="2" charset="77"/>
                <a:cs typeface="Tahoma"/>
              </a:rPr>
              <a:t> </a:t>
            </a:r>
            <a:r>
              <a:rPr lang="en-CA" sz="3200" b="1" spc="113" dirty="0">
                <a:latin typeface="Montserrat" pitchFamily="2" charset="77"/>
                <a:cs typeface="Tahoma"/>
              </a:rPr>
              <a:t>depth</a:t>
            </a:r>
            <a:r>
              <a:rPr lang="en-CA" sz="3200" b="1" spc="48" dirty="0">
                <a:latin typeface="Montserrat" pitchFamily="2" charset="77"/>
                <a:cs typeface="Tahoma"/>
              </a:rPr>
              <a:t> </a:t>
            </a:r>
            <a:r>
              <a:rPr lang="en-CA" sz="3200" b="1" dirty="0">
                <a:latin typeface="Montserrat" pitchFamily="2" charset="77"/>
                <a:cs typeface="Tahoma"/>
              </a:rPr>
              <a:t>is</a:t>
            </a:r>
            <a:r>
              <a:rPr lang="en-CA" sz="3200" b="1" spc="56" dirty="0">
                <a:latin typeface="Montserrat" pitchFamily="2" charset="77"/>
                <a:cs typeface="Tahoma"/>
              </a:rPr>
              <a:t> </a:t>
            </a:r>
            <a:r>
              <a:rPr lang="en-CA" sz="3200" b="1" spc="-120" dirty="0">
                <a:latin typeface="Montserrat" pitchFamily="2" charset="77"/>
                <a:cs typeface="Tahoma"/>
              </a:rPr>
              <a:t>fixed</a:t>
            </a:r>
            <a:r>
              <a:rPr lang="en-CA" sz="3200" b="1" spc="-8" dirty="0">
                <a:latin typeface="Montserrat" pitchFamily="2" charset="77"/>
                <a:cs typeface="Tahoma"/>
              </a:rPr>
              <a:t> – </a:t>
            </a:r>
            <a:r>
              <a:rPr lang="en-CA" sz="3200" spc="-8" dirty="0">
                <a:latin typeface="Montserrat" pitchFamily="2" charset="77"/>
                <a:cs typeface="Tahoma"/>
              </a:rPr>
              <a:t>se</a:t>
            </a:r>
            <a:r>
              <a:rPr lang="en-CA" sz="3200" spc="-16" dirty="0">
                <a:latin typeface="Montserrat" pitchFamily="2" charset="77"/>
                <a:cs typeface="Verdana"/>
              </a:rPr>
              <a:t>asonal</a:t>
            </a:r>
            <a:r>
              <a:rPr lang="en-CA" sz="3200" spc="-136" dirty="0">
                <a:latin typeface="Montserrat" pitchFamily="2" charset="77"/>
                <a:cs typeface="Verdana"/>
              </a:rPr>
              <a:t> </a:t>
            </a:r>
            <a:r>
              <a:rPr lang="en-CA" sz="3200" spc="-16" dirty="0">
                <a:latin typeface="Montserrat" pitchFamily="2" charset="77"/>
                <a:cs typeface="Verdana"/>
              </a:rPr>
              <a:t>variation</a:t>
            </a:r>
            <a:r>
              <a:rPr lang="en-CA" sz="3200" spc="-136" dirty="0">
                <a:latin typeface="Montserrat" pitchFamily="2" charset="77"/>
                <a:cs typeface="Verdana"/>
              </a:rPr>
              <a:t> </a:t>
            </a:r>
            <a:r>
              <a:rPr lang="en-CA" sz="3200" spc="-48" dirty="0">
                <a:latin typeface="Montserrat" pitchFamily="2" charset="77"/>
                <a:cs typeface="Verdana"/>
              </a:rPr>
              <a:t>is</a:t>
            </a:r>
            <a:r>
              <a:rPr lang="en-CA" sz="3200" spc="-136" dirty="0">
                <a:latin typeface="Montserrat" pitchFamily="2" charset="77"/>
                <a:cs typeface="Verdana"/>
              </a:rPr>
              <a:t> </a:t>
            </a:r>
            <a:r>
              <a:rPr lang="en-CA" sz="3200" dirty="0">
                <a:latin typeface="Montserrat" pitchFamily="2" charset="77"/>
                <a:cs typeface="Verdana"/>
              </a:rPr>
              <a:t>not</a:t>
            </a:r>
            <a:r>
              <a:rPr lang="en-CA" sz="3200" spc="-136" dirty="0">
                <a:latin typeface="Montserrat" pitchFamily="2" charset="77"/>
                <a:cs typeface="Verdana"/>
              </a:rPr>
              <a:t> </a:t>
            </a:r>
            <a:r>
              <a:rPr lang="en-CA" sz="3200" spc="-16" dirty="0">
                <a:latin typeface="Montserrat" pitchFamily="2" charset="77"/>
                <a:cs typeface="Verdana"/>
              </a:rPr>
              <a:t>represented</a:t>
            </a:r>
            <a:endParaRPr lang="en-CA" sz="3200" dirty="0">
              <a:latin typeface="Montserrat" pitchFamily="2" charset="77"/>
              <a:cs typeface="Verdana"/>
            </a:endParaRPr>
          </a:p>
          <a:p>
            <a:pPr marL="355904" marR="155007" indent="-336528">
              <a:spcBef>
                <a:spcPts val="1614"/>
              </a:spcBef>
              <a:buSzPct val="124137"/>
              <a:buFont typeface="Arial MT"/>
              <a:buChar char="•"/>
              <a:tabLst>
                <a:tab pos="355904" algn="l"/>
              </a:tabLst>
            </a:pPr>
            <a:r>
              <a:rPr lang="en-CA" sz="3200" b="1" spc="97" dirty="0">
                <a:latin typeface="Montserrat" pitchFamily="2" charset="77"/>
                <a:cs typeface="Tahoma"/>
              </a:rPr>
              <a:t>Cloud</a:t>
            </a:r>
            <a:r>
              <a:rPr lang="en-CA" sz="3200" b="1" spc="183" dirty="0">
                <a:latin typeface="Montserrat" pitchFamily="2" charset="77"/>
                <a:cs typeface="Tahoma"/>
              </a:rPr>
              <a:t> </a:t>
            </a:r>
            <a:r>
              <a:rPr lang="en-CA" sz="3200" b="1" dirty="0">
                <a:latin typeface="Montserrat" pitchFamily="2" charset="77"/>
                <a:cs typeface="Tahoma"/>
              </a:rPr>
              <a:t>cover</a:t>
            </a:r>
            <a:r>
              <a:rPr lang="en-CA" sz="3200" b="1" spc="208" dirty="0">
                <a:latin typeface="Montserrat" pitchFamily="2" charset="77"/>
                <a:cs typeface="Tahoma"/>
              </a:rPr>
              <a:t> </a:t>
            </a:r>
            <a:r>
              <a:rPr lang="en-CA" sz="3200" b="1" dirty="0">
                <a:latin typeface="Montserrat" pitchFamily="2" charset="77"/>
                <a:cs typeface="Tahoma"/>
              </a:rPr>
              <a:t>correction</a:t>
            </a:r>
            <a:r>
              <a:rPr lang="en-CA" sz="3200" b="1" spc="201" dirty="0">
                <a:latin typeface="Montserrat" pitchFamily="2" charset="77"/>
                <a:cs typeface="Tahoma"/>
              </a:rPr>
              <a:t> </a:t>
            </a:r>
            <a:r>
              <a:rPr lang="en-CA" sz="3200" b="1" dirty="0">
                <a:latin typeface="Montserrat" pitchFamily="2" charset="77"/>
                <a:cs typeface="Tahoma"/>
              </a:rPr>
              <a:t>is</a:t>
            </a:r>
            <a:r>
              <a:rPr lang="en-CA" sz="3200" b="1" spc="208" dirty="0">
                <a:latin typeface="Montserrat" pitchFamily="2" charset="77"/>
                <a:cs typeface="Tahoma"/>
              </a:rPr>
              <a:t> </a:t>
            </a:r>
            <a:r>
              <a:rPr lang="en-CA" sz="3200" b="1" spc="72" dirty="0">
                <a:latin typeface="Montserrat" pitchFamily="2" charset="77"/>
                <a:cs typeface="Tahoma"/>
              </a:rPr>
              <a:t>uniform</a:t>
            </a:r>
            <a:r>
              <a:rPr lang="en-CA" sz="3200" b="1" spc="136" dirty="0">
                <a:latin typeface="Montserrat" pitchFamily="2" charset="77"/>
                <a:cs typeface="Tahoma"/>
              </a:rPr>
              <a:t> </a:t>
            </a:r>
            <a:r>
              <a:rPr lang="en-CA" sz="3200" spc="136" dirty="0">
                <a:latin typeface="Montserrat" pitchFamily="2" charset="77"/>
                <a:cs typeface="Tahoma"/>
              </a:rPr>
              <a:t>– </a:t>
            </a:r>
            <a:r>
              <a:rPr lang="en-CA" sz="3200" dirty="0">
                <a:latin typeface="Montserrat" pitchFamily="2" charset="77"/>
                <a:cs typeface="Verdana"/>
              </a:rPr>
              <a:t>the same</a:t>
            </a:r>
            <a:r>
              <a:rPr lang="en-CA" sz="3200" spc="8" dirty="0">
                <a:latin typeface="Montserrat" pitchFamily="2" charset="77"/>
                <a:cs typeface="Verdana"/>
              </a:rPr>
              <a:t> </a:t>
            </a:r>
            <a:r>
              <a:rPr lang="en-CA" sz="3200" dirty="0">
                <a:latin typeface="Montserrat" pitchFamily="2" charset="77"/>
                <a:cs typeface="Verdana"/>
              </a:rPr>
              <a:t>reduction</a:t>
            </a:r>
            <a:r>
              <a:rPr lang="en-CA" sz="3200" spc="8" dirty="0">
                <a:latin typeface="Montserrat" pitchFamily="2" charset="77"/>
                <a:cs typeface="Verdana"/>
              </a:rPr>
              <a:t> </a:t>
            </a:r>
            <a:r>
              <a:rPr lang="en-CA" sz="3200" spc="-16" dirty="0">
                <a:latin typeface="Montserrat" pitchFamily="2" charset="77"/>
                <a:cs typeface="Verdana"/>
              </a:rPr>
              <a:t>factor </a:t>
            </a:r>
            <a:r>
              <a:rPr lang="en-CA" sz="3200" dirty="0">
                <a:latin typeface="Montserrat" pitchFamily="2" charset="77"/>
                <a:cs typeface="Verdana"/>
              </a:rPr>
              <a:t>applies</a:t>
            </a:r>
            <a:r>
              <a:rPr lang="en-CA" sz="3200" spc="-81" dirty="0">
                <a:latin typeface="Montserrat" pitchFamily="2" charset="77"/>
                <a:cs typeface="Verdana"/>
              </a:rPr>
              <a:t> </a:t>
            </a:r>
            <a:r>
              <a:rPr lang="en-CA" sz="3200" dirty="0">
                <a:latin typeface="Montserrat" pitchFamily="2" charset="77"/>
                <a:cs typeface="Verdana"/>
              </a:rPr>
              <a:t>to</a:t>
            </a:r>
            <a:r>
              <a:rPr lang="en-CA" sz="3200" spc="-72" dirty="0">
                <a:latin typeface="Montserrat" pitchFamily="2" charset="77"/>
                <a:cs typeface="Verdana"/>
              </a:rPr>
              <a:t> </a:t>
            </a:r>
            <a:r>
              <a:rPr lang="en-CA" sz="3200" spc="-32" dirty="0">
                <a:latin typeface="Montserrat" pitchFamily="2" charset="77"/>
                <a:cs typeface="Verdana"/>
              </a:rPr>
              <a:t>all</a:t>
            </a:r>
            <a:r>
              <a:rPr lang="en-CA" sz="3200" spc="-72" dirty="0">
                <a:latin typeface="Montserrat" pitchFamily="2" charset="77"/>
                <a:cs typeface="Verdana"/>
              </a:rPr>
              <a:t> </a:t>
            </a:r>
            <a:r>
              <a:rPr lang="en-CA" sz="3200" dirty="0">
                <a:latin typeface="Montserrat" pitchFamily="2" charset="77"/>
                <a:cs typeface="Verdana"/>
              </a:rPr>
              <a:t>cloudy</a:t>
            </a:r>
            <a:r>
              <a:rPr lang="en-CA" sz="3200" spc="-81" dirty="0">
                <a:latin typeface="Montserrat" pitchFamily="2" charset="77"/>
                <a:cs typeface="Verdana"/>
              </a:rPr>
              <a:t> </a:t>
            </a:r>
            <a:r>
              <a:rPr lang="en-CA" sz="3200" spc="-16" dirty="0">
                <a:latin typeface="Montserrat" pitchFamily="2" charset="77"/>
                <a:cs typeface="Verdana"/>
              </a:rPr>
              <a:t>periods</a:t>
            </a:r>
            <a:endParaRPr lang="en-CA" sz="3200" dirty="0">
              <a:latin typeface="Montserrat" pitchFamily="2" charset="77"/>
              <a:cs typeface="Verdana"/>
            </a:endParaRPr>
          </a:p>
          <a:p>
            <a:pPr marL="355904" marR="772995" indent="-336528">
              <a:lnSpc>
                <a:spcPct val="102299"/>
              </a:lnSpc>
              <a:spcBef>
                <a:spcPts val="1566"/>
              </a:spcBef>
              <a:buSzPct val="124137"/>
              <a:buFont typeface="Arial MT"/>
              <a:buChar char="•"/>
              <a:tabLst>
                <a:tab pos="355904" algn="l"/>
              </a:tabLst>
            </a:pPr>
            <a:r>
              <a:rPr lang="en-CA" sz="3200" b="1" spc="97" dirty="0">
                <a:latin typeface="Montserrat" pitchFamily="2" charset="77"/>
                <a:cs typeface="Tahoma"/>
              </a:rPr>
              <a:t>No</a:t>
            </a:r>
            <a:r>
              <a:rPr lang="en-CA" sz="3200" b="1" spc="120" dirty="0">
                <a:latin typeface="Montserrat" pitchFamily="2" charset="77"/>
                <a:cs typeface="Tahoma"/>
              </a:rPr>
              <a:t> </a:t>
            </a:r>
            <a:r>
              <a:rPr lang="en-CA" sz="3200" b="1" dirty="0">
                <a:latin typeface="Montserrat" pitchFamily="2" charset="77"/>
                <a:cs typeface="Tahoma"/>
              </a:rPr>
              <a:t>lateral</a:t>
            </a:r>
            <a:r>
              <a:rPr lang="en-CA" sz="3200" b="1" spc="104" dirty="0">
                <a:latin typeface="Montserrat" pitchFamily="2" charset="77"/>
                <a:cs typeface="Tahoma"/>
              </a:rPr>
              <a:t> </a:t>
            </a:r>
            <a:r>
              <a:rPr lang="en-CA" sz="3200" b="1" dirty="0">
                <a:latin typeface="Montserrat" pitchFamily="2" charset="77"/>
                <a:cs typeface="Tahoma"/>
              </a:rPr>
              <a:t>flow</a:t>
            </a:r>
            <a:r>
              <a:rPr lang="en-CA" sz="3200" b="1" spc="113" dirty="0">
                <a:latin typeface="Montserrat" pitchFamily="2" charset="77"/>
                <a:cs typeface="Tahoma"/>
              </a:rPr>
              <a:t> </a:t>
            </a:r>
            <a:r>
              <a:rPr lang="en-CA" sz="3200" b="1" dirty="0">
                <a:latin typeface="Montserrat" pitchFamily="2" charset="77"/>
                <a:cs typeface="Tahoma"/>
              </a:rPr>
              <a:t>or</a:t>
            </a:r>
            <a:r>
              <a:rPr lang="en-CA" sz="3200" b="1" spc="113" dirty="0">
                <a:latin typeface="Montserrat" pitchFamily="2" charset="77"/>
                <a:cs typeface="Tahoma"/>
              </a:rPr>
              <a:t> </a:t>
            </a:r>
            <a:r>
              <a:rPr lang="en-CA" sz="3200" b="1" dirty="0">
                <a:latin typeface="Montserrat" pitchFamily="2" charset="77"/>
                <a:cs typeface="Tahoma"/>
              </a:rPr>
              <a:t>surface</a:t>
            </a:r>
            <a:r>
              <a:rPr lang="en-CA" sz="3200" b="1" spc="120" dirty="0">
                <a:latin typeface="Montserrat" pitchFamily="2" charset="77"/>
                <a:cs typeface="Tahoma"/>
              </a:rPr>
              <a:t> </a:t>
            </a:r>
            <a:r>
              <a:rPr lang="en-CA" sz="3200" b="1" dirty="0">
                <a:latin typeface="Montserrat" pitchFamily="2" charset="77"/>
                <a:cs typeface="Tahoma"/>
              </a:rPr>
              <a:t>runoff</a:t>
            </a:r>
            <a:r>
              <a:rPr lang="en-CA" sz="3200" b="1" spc="56" dirty="0">
                <a:latin typeface="Montserrat" pitchFamily="2" charset="77"/>
                <a:cs typeface="Tahoma"/>
              </a:rPr>
              <a:t> </a:t>
            </a:r>
            <a:r>
              <a:rPr lang="en-CA" sz="3200" spc="56" dirty="0">
                <a:latin typeface="Montserrat" pitchFamily="2" charset="77"/>
                <a:cs typeface="Tahoma"/>
              </a:rPr>
              <a:t>–</a:t>
            </a:r>
            <a:r>
              <a:rPr lang="en-CA" sz="3200" b="1" spc="56" dirty="0">
                <a:latin typeface="Montserrat" pitchFamily="2" charset="77"/>
                <a:cs typeface="Tahoma"/>
              </a:rPr>
              <a:t> </a:t>
            </a:r>
            <a:r>
              <a:rPr lang="en-CA" sz="3200" spc="-32" dirty="0">
                <a:latin typeface="Montserrat" pitchFamily="2" charset="77"/>
                <a:cs typeface="Verdana"/>
              </a:rPr>
              <a:t>all</a:t>
            </a:r>
            <a:r>
              <a:rPr lang="en-CA" sz="3200" spc="-81" dirty="0">
                <a:latin typeface="Montserrat" pitchFamily="2" charset="77"/>
                <a:cs typeface="Verdana"/>
              </a:rPr>
              <a:t> </a:t>
            </a:r>
            <a:r>
              <a:rPr lang="en-CA" sz="3200" dirty="0">
                <a:latin typeface="Montserrat" pitchFamily="2" charset="77"/>
                <a:cs typeface="Verdana"/>
              </a:rPr>
              <a:t>water</a:t>
            </a:r>
            <a:r>
              <a:rPr lang="en-CA" sz="3200" spc="-81" dirty="0">
                <a:latin typeface="Montserrat" pitchFamily="2" charset="77"/>
                <a:cs typeface="Verdana"/>
              </a:rPr>
              <a:t> </a:t>
            </a:r>
            <a:r>
              <a:rPr lang="en-CA" sz="3200" spc="-48" dirty="0">
                <a:latin typeface="Montserrat" pitchFamily="2" charset="77"/>
                <a:cs typeface="Verdana"/>
              </a:rPr>
              <a:t>is</a:t>
            </a:r>
            <a:r>
              <a:rPr lang="en-CA" sz="3200" spc="-81" dirty="0">
                <a:latin typeface="Montserrat" pitchFamily="2" charset="77"/>
                <a:cs typeface="Verdana"/>
              </a:rPr>
              <a:t> </a:t>
            </a:r>
            <a:r>
              <a:rPr lang="en-CA" sz="3200" dirty="0">
                <a:latin typeface="Montserrat" pitchFamily="2" charset="77"/>
                <a:cs typeface="Verdana"/>
              </a:rPr>
              <a:t>either</a:t>
            </a:r>
            <a:r>
              <a:rPr lang="en-CA" sz="3200" spc="-81" dirty="0">
                <a:latin typeface="Montserrat" pitchFamily="2" charset="77"/>
                <a:cs typeface="Verdana"/>
              </a:rPr>
              <a:t> </a:t>
            </a:r>
            <a:r>
              <a:rPr lang="en-CA" sz="3200" spc="-16" dirty="0">
                <a:latin typeface="Montserrat" pitchFamily="2" charset="77"/>
                <a:cs typeface="Verdana"/>
              </a:rPr>
              <a:t>lost</a:t>
            </a:r>
            <a:r>
              <a:rPr lang="en-CA" sz="3200" spc="-81" dirty="0">
                <a:latin typeface="Montserrat" pitchFamily="2" charset="77"/>
                <a:cs typeface="Verdana"/>
              </a:rPr>
              <a:t> </a:t>
            </a:r>
            <a:r>
              <a:rPr lang="en-CA" sz="3200" spc="-40" dirty="0">
                <a:latin typeface="Montserrat" pitchFamily="2" charset="77"/>
                <a:cs typeface="Verdana"/>
              </a:rPr>
              <a:t>to </a:t>
            </a:r>
            <a:r>
              <a:rPr lang="en-CA" sz="3200" spc="-32" dirty="0">
                <a:latin typeface="Montserrat" pitchFamily="2" charset="77"/>
                <a:cs typeface="Verdana"/>
              </a:rPr>
              <a:t>evapotranspiration,</a:t>
            </a:r>
            <a:r>
              <a:rPr lang="en-CA" sz="3200" spc="-97" dirty="0">
                <a:latin typeface="Montserrat" pitchFamily="2" charset="77"/>
                <a:cs typeface="Verdana"/>
              </a:rPr>
              <a:t> </a:t>
            </a:r>
            <a:r>
              <a:rPr lang="en-CA" sz="3200" spc="-16" dirty="0">
                <a:latin typeface="Montserrat" pitchFamily="2" charset="77"/>
                <a:cs typeface="Verdana"/>
              </a:rPr>
              <a:t>drains</a:t>
            </a:r>
            <a:r>
              <a:rPr lang="en-CA" sz="3200" spc="-88" dirty="0">
                <a:latin typeface="Montserrat" pitchFamily="2" charset="77"/>
                <a:cs typeface="Verdana"/>
              </a:rPr>
              <a:t> </a:t>
            </a:r>
            <a:r>
              <a:rPr lang="en-CA" sz="3200" spc="-72" dirty="0">
                <a:latin typeface="Montserrat" pitchFamily="2" charset="77"/>
                <a:cs typeface="Verdana"/>
              </a:rPr>
              <a:t>vertically,</a:t>
            </a:r>
            <a:r>
              <a:rPr lang="en-CA" sz="3200" spc="-97" dirty="0">
                <a:latin typeface="Montserrat" pitchFamily="2" charset="77"/>
                <a:cs typeface="Verdana"/>
              </a:rPr>
              <a:t> </a:t>
            </a:r>
            <a:r>
              <a:rPr lang="en-CA" sz="3200" spc="-16" dirty="0">
                <a:latin typeface="Montserrat" pitchFamily="2" charset="77"/>
                <a:cs typeface="Verdana"/>
              </a:rPr>
              <a:t>or</a:t>
            </a:r>
            <a:r>
              <a:rPr lang="en-CA" sz="3200" spc="-88" dirty="0">
                <a:latin typeface="Montserrat" pitchFamily="2" charset="77"/>
                <a:cs typeface="Verdana"/>
              </a:rPr>
              <a:t> </a:t>
            </a:r>
            <a:r>
              <a:rPr lang="en-CA" sz="3200" dirty="0">
                <a:latin typeface="Montserrat" pitchFamily="2" charset="77"/>
                <a:cs typeface="Verdana"/>
              </a:rPr>
              <a:t>remains</a:t>
            </a:r>
            <a:r>
              <a:rPr lang="en-CA" sz="3200" spc="-97" dirty="0">
                <a:latin typeface="Montserrat" pitchFamily="2" charset="77"/>
                <a:cs typeface="Verdana"/>
              </a:rPr>
              <a:t> </a:t>
            </a:r>
            <a:r>
              <a:rPr lang="en-CA" sz="3200" dirty="0">
                <a:latin typeface="Montserrat" pitchFamily="2" charset="77"/>
                <a:cs typeface="Verdana"/>
              </a:rPr>
              <a:t>in</a:t>
            </a:r>
            <a:r>
              <a:rPr lang="en-CA" sz="3200" spc="-88" dirty="0">
                <a:latin typeface="Montserrat" pitchFamily="2" charset="77"/>
                <a:cs typeface="Verdana"/>
              </a:rPr>
              <a:t> </a:t>
            </a:r>
            <a:r>
              <a:rPr lang="en-CA" sz="3200" spc="-16" dirty="0">
                <a:latin typeface="Montserrat" pitchFamily="2" charset="77"/>
                <a:cs typeface="Verdana"/>
              </a:rPr>
              <a:t>storage</a:t>
            </a:r>
            <a:endParaRPr lang="en-CA" sz="3200" dirty="0">
              <a:latin typeface="Montserrat" pitchFamily="2" charset="77"/>
              <a:cs typeface="Verdana"/>
            </a:endParaRPr>
          </a:p>
        </p:txBody>
      </p:sp>
      <p:sp>
        <p:nvSpPr>
          <p:cNvPr id="23" name="TextBox 22">
            <a:extLst>
              <a:ext uri="{FF2B5EF4-FFF2-40B4-BE49-F238E27FC236}">
                <a16:creationId xmlns:a16="http://schemas.microsoft.com/office/drawing/2014/main" id="{3A95F00F-57E0-FEF9-DA2C-768F471A9EFB}"/>
              </a:ext>
            </a:extLst>
          </p:cNvPr>
          <p:cNvSpPr txBox="1"/>
          <p:nvPr/>
        </p:nvSpPr>
        <p:spPr>
          <a:xfrm>
            <a:off x="678212" y="27873148"/>
            <a:ext cx="9348928" cy="861774"/>
          </a:xfrm>
          <a:prstGeom prst="rect">
            <a:avLst/>
          </a:prstGeom>
          <a:noFill/>
        </p:spPr>
        <p:txBody>
          <a:bodyPr wrap="square" rtlCol="0">
            <a:spAutoFit/>
          </a:bodyPr>
          <a:lstStyle/>
          <a:p>
            <a:r>
              <a:rPr lang="en-US" sz="5000" b="1" dirty="0">
                <a:latin typeface="Helvetica" pitchFamily="2" charset="0"/>
              </a:rPr>
              <a:t>MODELING PROCESS</a:t>
            </a:r>
          </a:p>
        </p:txBody>
      </p:sp>
      <p:pic>
        <p:nvPicPr>
          <p:cNvPr id="27" name="Picture 26">
            <a:extLst>
              <a:ext uri="{FF2B5EF4-FFF2-40B4-BE49-F238E27FC236}">
                <a16:creationId xmlns:a16="http://schemas.microsoft.com/office/drawing/2014/main" id="{A6376937-238B-E8F5-AA5E-64B92600D2E0}"/>
              </a:ext>
            </a:extLst>
          </p:cNvPr>
          <p:cNvPicPr>
            <a:picLocks noChangeAspect="1"/>
          </p:cNvPicPr>
          <p:nvPr/>
        </p:nvPicPr>
        <p:blipFill>
          <a:blip r:embed="rId3"/>
          <a:stretch>
            <a:fillRect/>
          </a:stretch>
        </p:blipFill>
        <p:spPr>
          <a:xfrm>
            <a:off x="1630733" y="27873148"/>
            <a:ext cx="14263901" cy="13273351"/>
          </a:xfrm>
          <a:prstGeom prst="rect">
            <a:avLst/>
          </a:prstGeom>
        </p:spPr>
      </p:pic>
      <p:pic>
        <p:nvPicPr>
          <p:cNvPr id="31" name="Picture 30">
            <a:extLst>
              <a:ext uri="{FF2B5EF4-FFF2-40B4-BE49-F238E27FC236}">
                <a16:creationId xmlns:a16="http://schemas.microsoft.com/office/drawing/2014/main" id="{1AA67AC5-05BB-3120-DC38-56BD0BAE0997}"/>
              </a:ext>
            </a:extLst>
          </p:cNvPr>
          <p:cNvPicPr>
            <a:picLocks noChangeAspect="1"/>
          </p:cNvPicPr>
          <p:nvPr/>
        </p:nvPicPr>
        <p:blipFill>
          <a:blip r:embed="rId4"/>
          <a:stretch>
            <a:fillRect/>
          </a:stretch>
        </p:blipFill>
        <p:spPr>
          <a:xfrm>
            <a:off x="2335890" y="14358957"/>
            <a:ext cx="14255981" cy="11640468"/>
          </a:xfrm>
          <a:prstGeom prst="rect">
            <a:avLst/>
          </a:prstGeom>
        </p:spPr>
      </p:pic>
      <p:sp>
        <p:nvSpPr>
          <p:cNvPr id="32" name="TextBox 31">
            <a:extLst>
              <a:ext uri="{FF2B5EF4-FFF2-40B4-BE49-F238E27FC236}">
                <a16:creationId xmlns:a16="http://schemas.microsoft.com/office/drawing/2014/main" id="{2321E39F-3861-F8BB-60BA-A2BE0D62E711}"/>
              </a:ext>
            </a:extLst>
          </p:cNvPr>
          <p:cNvSpPr txBox="1"/>
          <p:nvPr/>
        </p:nvSpPr>
        <p:spPr>
          <a:xfrm>
            <a:off x="16752405" y="11282268"/>
            <a:ext cx="7020640" cy="861774"/>
          </a:xfrm>
          <a:prstGeom prst="rect">
            <a:avLst/>
          </a:prstGeom>
          <a:noFill/>
        </p:spPr>
        <p:txBody>
          <a:bodyPr wrap="square" rtlCol="0">
            <a:spAutoFit/>
          </a:bodyPr>
          <a:lstStyle/>
          <a:p>
            <a:r>
              <a:rPr lang="en-US" sz="5000" b="1" dirty="0">
                <a:latin typeface="Helvetica" pitchFamily="2" charset="0"/>
              </a:rPr>
              <a:t>OUTPUT</a:t>
            </a:r>
          </a:p>
        </p:txBody>
      </p:sp>
      <p:sp>
        <p:nvSpPr>
          <p:cNvPr id="33" name="TextBox 32">
            <a:extLst>
              <a:ext uri="{FF2B5EF4-FFF2-40B4-BE49-F238E27FC236}">
                <a16:creationId xmlns:a16="http://schemas.microsoft.com/office/drawing/2014/main" id="{F06C169E-412C-7B7A-C6EF-C4158A76EFCE}"/>
              </a:ext>
            </a:extLst>
          </p:cNvPr>
          <p:cNvSpPr txBox="1"/>
          <p:nvPr/>
        </p:nvSpPr>
        <p:spPr>
          <a:xfrm>
            <a:off x="16472879" y="12153366"/>
            <a:ext cx="14744440" cy="3399600"/>
          </a:xfrm>
          <a:prstGeom prst="rect">
            <a:avLst/>
          </a:prstGeom>
          <a:noFill/>
          <a:ln>
            <a:noFill/>
          </a:ln>
        </p:spPr>
        <p:txBody>
          <a:bodyPr wrap="square" lIns="334172" tIns="167086" rIns="334172" bIns="167086" rtlCol="0">
            <a:noAutofit/>
          </a:bodyPr>
          <a:lstStyle/>
          <a:p>
            <a:pPr marL="19376" marR="8158" algn="just">
              <a:lnSpc>
                <a:spcPct val="102299"/>
              </a:lnSpc>
              <a:spcBef>
                <a:spcPts val="2064"/>
              </a:spcBef>
              <a:buSzPct val="124137"/>
              <a:tabLst>
                <a:tab pos="355904" algn="l"/>
              </a:tabLst>
            </a:pPr>
            <a:r>
              <a:rPr lang="en-CA" sz="3200" dirty="0">
                <a:latin typeface="Montserrat" pitchFamily="2" charset="77"/>
                <a:cs typeface="Verdana"/>
              </a:rPr>
              <a:t>The  model  produces  a CSV  file  containing  daily calculations of solar radiation, evapotranspiration, drainage estimates, and total soil moisture for the period covered by the input data. The model also reports the average soil moisture value for each day of the year (Fig. 3), and the seasonal distribution of soil moisture values (Fig. 4).</a:t>
            </a:r>
          </a:p>
        </p:txBody>
      </p:sp>
      <p:pic>
        <p:nvPicPr>
          <p:cNvPr id="35" name="Picture 34">
            <a:extLst>
              <a:ext uri="{FF2B5EF4-FFF2-40B4-BE49-F238E27FC236}">
                <a16:creationId xmlns:a16="http://schemas.microsoft.com/office/drawing/2014/main" id="{6D8EE708-A186-FE32-7285-5ED15FF83740}"/>
              </a:ext>
            </a:extLst>
          </p:cNvPr>
          <p:cNvPicPr>
            <a:picLocks noChangeAspect="1"/>
          </p:cNvPicPr>
          <p:nvPr/>
        </p:nvPicPr>
        <p:blipFill>
          <a:blip r:embed="rId5"/>
          <a:stretch>
            <a:fillRect/>
          </a:stretch>
        </p:blipFill>
        <p:spPr>
          <a:xfrm>
            <a:off x="16710603" y="15270139"/>
            <a:ext cx="14635954" cy="6817862"/>
          </a:xfrm>
          <a:prstGeom prst="rect">
            <a:avLst/>
          </a:prstGeom>
        </p:spPr>
      </p:pic>
      <p:pic>
        <p:nvPicPr>
          <p:cNvPr id="37" name="Picture 36">
            <a:extLst>
              <a:ext uri="{FF2B5EF4-FFF2-40B4-BE49-F238E27FC236}">
                <a16:creationId xmlns:a16="http://schemas.microsoft.com/office/drawing/2014/main" id="{AA622C18-2B1A-BE83-EB8B-C71DD1F07822}"/>
              </a:ext>
            </a:extLst>
          </p:cNvPr>
          <p:cNvPicPr>
            <a:picLocks noChangeAspect="1"/>
          </p:cNvPicPr>
          <p:nvPr/>
        </p:nvPicPr>
        <p:blipFill>
          <a:blip r:embed="rId6"/>
          <a:stretch>
            <a:fillRect/>
          </a:stretch>
        </p:blipFill>
        <p:spPr>
          <a:xfrm>
            <a:off x="16752405" y="22984110"/>
            <a:ext cx="14611088" cy="8681064"/>
          </a:xfrm>
          <a:prstGeom prst="rect">
            <a:avLst/>
          </a:prstGeom>
        </p:spPr>
      </p:pic>
      <p:sp>
        <p:nvSpPr>
          <p:cNvPr id="39" name="TextBox 38">
            <a:extLst>
              <a:ext uri="{FF2B5EF4-FFF2-40B4-BE49-F238E27FC236}">
                <a16:creationId xmlns:a16="http://schemas.microsoft.com/office/drawing/2014/main" id="{6819CE16-3E8C-8C7D-C358-54E3EDFE96BB}"/>
              </a:ext>
            </a:extLst>
          </p:cNvPr>
          <p:cNvSpPr txBox="1"/>
          <p:nvPr/>
        </p:nvSpPr>
        <p:spPr>
          <a:xfrm>
            <a:off x="632493" y="41162257"/>
            <a:ext cx="15262141" cy="658322"/>
          </a:xfrm>
          <a:prstGeom prst="rect">
            <a:avLst/>
          </a:prstGeom>
          <a:noFill/>
        </p:spPr>
        <p:txBody>
          <a:bodyPr wrap="square">
            <a:spAutoFit/>
          </a:bodyPr>
          <a:lstStyle/>
          <a:p>
            <a:pPr marL="20396" marR="8158" algn="just">
              <a:lnSpc>
                <a:spcPct val="105300"/>
              </a:lnSpc>
              <a:spcBef>
                <a:spcPts val="113"/>
              </a:spcBef>
            </a:pPr>
            <a:r>
              <a:rPr lang="en-CA" b="1" dirty="0">
                <a:latin typeface="Montserrat" pitchFamily="2" charset="77"/>
                <a:cs typeface="Verdana"/>
              </a:rPr>
              <a:t>Figure 2. Workflow diagram of the daily soil moisture model. </a:t>
            </a:r>
            <a:r>
              <a:rPr lang="en-CA" dirty="0">
                <a:latin typeface="Montserrat" pitchFamily="2" charset="77"/>
                <a:cs typeface="Verdana"/>
              </a:rPr>
              <a:t>All major steps including data ingestion, calculations and the main model logic used to simulate daily water storage are shown.</a:t>
            </a:r>
          </a:p>
        </p:txBody>
      </p:sp>
      <p:sp>
        <p:nvSpPr>
          <p:cNvPr id="40" name="TextBox 39">
            <a:extLst>
              <a:ext uri="{FF2B5EF4-FFF2-40B4-BE49-F238E27FC236}">
                <a16:creationId xmlns:a16="http://schemas.microsoft.com/office/drawing/2014/main" id="{709133BE-B6F0-4C3F-213D-965A5D1CBD88}"/>
              </a:ext>
            </a:extLst>
          </p:cNvPr>
          <p:cNvSpPr txBox="1"/>
          <p:nvPr/>
        </p:nvSpPr>
        <p:spPr>
          <a:xfrm>
            <a:off x="17056254" y="22131137"/>
            <a:ext cx="14388274" cy="658385"/>
          </a:xfrm>
          <a:prstGeom prst="rect">
            <a:avLst/>
          </a:prstGeom>
          <a:noFill/>
        </p:spPr>
        <p:txBody>
          <a:bodyPr wrap="square">
            <a:spAutoFit/>
          </a:bodyPr>
          <a:lstStyle/>
          <a:p>
            <a:pPr marL="20396" marR="8158">
              <a:lnSpc>
                <a:spcPct val="105300"/>
              </a:lnSpc>
              <a:spcBef>
                <a:spcPts val="113"/>
              </a:spcBef>
            </a:pPr>
            <a:r>
              <a:rPr lang="en-CA" b="1" dirty="0">
                <a:latin typeface="Montserrat" pitchFamily="2" charset="77"/>
                <a:cs typeface="Verdana"/>
              </a:rPr>
              <a:t>Figure 3. Average daily soil moisture (mm) by day of year (2014 – 2026). </a:t>
            </a:r>
            <a:r>
              <a:rPr lang="en-CA" dirty="0">
                <a:latin typeface="Montserrat" pitchFamily="2" charset="77"/>
                <a:cs typeface="Verdana"/>
              </a:rPr>
              <a:t>Values represent mean soil moisture for each calendar day, averaged across all years, revealing seasonal patterns.</a:t>
            </a:r>
          </a:p>
        </p:txBody>
      </p:sp>
      <p:sp>
        <p:nvSpPr>
          <p:cNvPr id="41" name="TextBox 40">
            <a:extLst>
              <a:ext uri="{FF2B5EF4-FFF2-40B4-BE49-F238E27FC236}">
                <a16:creationId xmlns:a16="http://schemas.microsoft.com/office/drawing/2014/main" id="{45D0E3D1-7A07-198F-8A97-F3125A8E1D5C}"/>
              </a:ext>
            </a:extLst>
          </p:cNvPr>
          <p:cNvSpPr txBox="1"/>
          <p:nvPr/>
        </p:nvSpPr>
        <p:spPr>
          <a:xfrm>
            <a:off x="17120370" y="31859762"/>
            <a:ext cx="14251138" cy="949171"/>
          </a:xfrm>
          <a:prstGeom prst="rect">
            <a:avLst/>
          </a:prstGeom>
          <a:noFill/>
        </p:spPr>
        <p:txBody>
          <a:bodyPr wrap="square">
            <a:spAutoFit/>
          </a:bodyPr>
          <a:lstStyle/>
          <a:p>
            <a:pPr marL="20396" marR="8158" algn="just">
              <a:lnSpc>
                <a:spcPct val="105300"/>
              </a:lnSpc>
              <a:spcBef>
                <a:spcPts val="113"/>
              </a:spcBef>
            </a:pPr>
            <a:r>
              <a:rPr lang="en-CA" b="1" dirty="0">
                <a:latin typeface="Montserrat" pitchFamily="2" charset="77"/>
                <a:cs typeface="Verdana"/>
              </a:rPr>
              <a:t>Figure 4. Seasonal distribution of mean soil moisture (mm) (2014 – 2026). </a:t>
            </a:r>
            <a:r>
              <a:rPr lang="en-CA" dirty="0">
                <a:latin typeface="Montserrat" pitchFamily="2" charset="77"/>
                <a:cs typeface="Verdana"/>
              </a:rPr>
              <a:t>Box plots show the distribution of annual seasonal averages. Each value corresponds to the mean soil moisture for a given season within a year. Seasonal differences and interannual variability are reflected in the spread and outliers.</a:t>
            </a:r>
          </a:p>
        </p:txBody>
      </p:sp>
      <p:sp>
        <p:nvSpPr>
          <p:cNvPr id="44" name="TextBox 43">
            <a:extLst>
              <a:ext uri="{FF2B5EF4-FFF2-40B4-BE49-F238E27FC236}">
                <a16:creationId xmlns:a16="http://schemas.microsoft.com/office/drawing/2014/main" id="{201C6367-B42B-541F-6061-659183914125}"/>
              </a:ext>
            </a:extLst>
          </p:cNvPr>
          <p:cNvSpPr txBox="1"/>
          <p:nvPr/>
        </p:nvSpPr>
        <p:spPr>
          <a:xfrm>
            <a:off x="17120370" y="33192098"/>
            <a:ext cx="12483330" cy="861774"/>
          </a:xfrm>
          <a:prstGeom prst="rect">
            <a:avLst/>
          </a:prstGeom>
          <a:noFill/>
        </p:spPr>
        <p:txBody>
          <a:bodyPr wrap="square" rtlCol="0">
            <a:spAutoFit/>
          </a:bodyPr>
          <a:lstStyle/>
          <a:p>
            <a:r>
              <a:rPr lang="en-US" sz="5000" b="1" dirty="0">
                <a:latin typeface="Helvetica" pitchFamily="2" charset="0"/>
              </a:rPr>
              <a:t>STRENGTHS &amp; LIMITATIONS</a:t>
            </a:r>
          </a:p>
        </p:txBody>
      </p:sp>
      <p:sp>
        <p:nvSpPr>
          <p:cNvPr id="45" name="TextBox 44">
            <a:extLst>
              <a:ext uri="{FF2B5EF4-FFF2-40B4-BE49-F238E27FC236}">
                <a16:creationId xmlns:a16="http://schemas.microsoft.com/office/drawing/2014/main" id="{47DC82EE-778B-17B0-9BA9-9C2913DA9599}"/>
              </a:ext>
            </a:extLst>
          </p:cNvPr>
          <p:cNvSpPr txBox="1"/>
          <p:nvPr/>
        </p:nvSpPr>
        <p:spPr>
          <a:xfrm>
            <a:off x="16920272" y="34165587"/>
            <a:ext cx="14610520" cy="4892356"/>
          </a:xfrm>
          <a:prstGeom prst="rect">
            <a:avLst/>
          </a:prstGeom>
          <a:noFill/>
          <a:ln>
            <a:noFill/>
          </a:ln>
        </p:spPr>
        <p:txBody>
          <a:bodyPr wrap="square" lIns="334172" tIns="167086" rIns="334172" bIns="167086" rtlCol="0">
            <a:noAutofit/>
          </a:bodyPr>
          <a:lstStyle/>
          <a:p>
            <a:pPr marL="19376" marR="8158" algn="just">
              <a:lnSpc>
                <a:spcPct val="102299"/>
              </a:lnSpc>
              <a:spcBef>
                <a:spcPts val="2064"/>
              </a:spcBef>
              <a:buSzPct val="124137"/>
              <a:tabLst>
                <a:tab pos="355904" algn="l"/>
              </a:tabLst>
            </a:pPr>
            <a:r>
              <a:rPr lang="en-CA" sz="3200" dirty="0">
                <a:latin typeface="Montserrat" pitchFamily="2" charset="77"/>
                <a:cs typeface="Verdana"/>
              </a:rPr>
              <a:t>The model provides an interpretable approach to simulating soil moisture using meteorological data while capturing key water  balance  processes.  The soil  moisture  stress  function improves realism by reducing evapotranspiration under low water  availability,  and  the  model  reproduces  reasonable seasonal patterns. However, simplifying assumptions, such as uniform soil properties, fixed root zone depth, and a constant cloud  correction,  limit  accuracy.  The  exclusion  of  snow dynamics and lateral flow or runoff further constrains realism.</a:t>
            </a:r>
          </a:p>
        </p:txBody>
      </p:sp>
      <p:sp>
        <p:nvSpPr>
          <p:cNvPr id="46" name="TextBox 45">
            <a:extLst>
              <a:ext uri="{FF2B5EF4-FFF2-40B4-BE49-F238E27FC236}">
                <a16:creationId xmlns:a16="http://schemas.microsoft.com/office/drawing/2014/main" id="{ED236E54-E5C7-81E0-C8B7-FF3586A6769A}"/>
              </a:ext>
            </a:extLst>
          </p:cNvPr>
          <p:cNvSpPr txBox="1"/>
          <p:nvPr/>
        </p:nvSpPr>
        <p:spPr>
          <a:xfrm>
            <a:off x="17181684" y="39101079"/>
            <a:ext cx="14164873" cy="1738938"/>
          </a:xfrm>
          <a:prstGeom prst="rect">
            <a:avLst/>
          </a:prstGeom>
          <a:noFill/>
        </p:spPr>
        <p:txBody>
          <a:bodyPr wrap="square" numCol="1" rtlCol="0">
            <a:spAutoFit/>
          </a:bodyPr>
          <a:lstStyle/>
          <a:p>
            <a:r>
              <a:rPr lang="en-US" sz="3500" b="1" dirty="0">
                <a:latin typeface="Helvetica" pitchFamily="2" charset="0"/>
              </a:rPr>
              <a:t>REFERENCES</a:t>
            </a:r>
            <a:endParaRPr lang="en-US" sz="1200" b="1" dirty="0">
              <a:latin typeface="Helvetica" pitchFamily="2" charset="0"/>
            </a:endParaRPr>
          </a:p>
          <a:p>
            <a:r>
              <a:rPr lang="en-US" dirty="0">
                <a:latin typeface="Montserrat" pitchFamily="2" charset="77"/>
              </a:rPr>
              <a:t>1. Seneviratne et al. (2010). Earth-Science Reviews, 2. Chipanshi et al. (2021). Intl. Journal of Climatology, 3. Hanesiak et al. (2011). Atmosphere-Ocean, 4. Hanesiak et al. (2011). Atmosphere-Ocean, 4. CORDIS. (2020). Impact of soil moisture on climate change projections 5. Government of Alberta. (2026). Acis.alberta.ca, 6. Rodriguez-Iturbe et al. (1999). Proc. R. Soc. Lond. A</a:t>
            </a:r>
          </a:p>
        </p:txBody>
      </p:sp>
      <p:pic>
        <p:nvPicPr>
          <p:cNvPr id="5" name="object 6">
            <a:extLst>
              <a:ext uri="{FF2B5EF4-FFF2-40B4-BE49-F238E27FC236}">
                <a16:creationId xmlns:a16="http://schemas.microsoft.com/office/drawing/2014/main" id="{A13178B6-0E4E-F543-4282-A3E7B244687F}"/>
              </a:ext>
            </a:extLst>
          </p:cNvPr>
          <p:cNvPicPr/>
          <p:nvPr/>
        </p:nvPicPr>
        <p:blipFill>
          <a:blip r:embed="rId7" cstate="print"/>
          <a:stretch>
            <a:fillRect/>
          </a:stretch>
        </p:blipFill>
        <p:spPr>
          <a:xfrm>
            <a:off x="410004" y="2843932"/>
            <a:ext cx="3732809" cy="1022461"/>
          </a:xfrm>
          <a:prstGeom prst="rect">
            <a:avLst/>
          </a:prstGeom>
        </p:spPr>
      </p:pic>
      <p:sp>
        <p:nvSpPr>
          <p:cNvPr id="14" name="TextBox 13">
            <a:extLst>
              <a:ext uri="{FF2B5EF4-FFF2-40B4-BE49-F238E27FC236}">
                <a16:creationId xmlns:a16="http://schemas.microsoft.com/office/drawing/2014/main" id="{0821936E-8A5A-E9FD-FB58-2EB081C11CAA}"/>
              </a:ext>
            </a:extLst>
          </p:cNvPr>
          <p:cNvSpPr txBox="1"/>
          <p:nvPr/>
        </p:nvSpPr>
        <p:spPr>
          <a:xfrm>
            <a:off x="17124077" y="40922739"/>
            <a:ext cx="13769306" cy="907941"/>
          </a:xfrm>
          <a:prstGeom prst="rect">
            <a:avLst/>
          </a:prstGeom>
          <a:noFill/>
        </p:spPr>
        <p:txBody>
          <a:bodyPr wrap="square" numCol="1" rtlCol="0">
            <a:spAutoFit/>
          </a:bodyPr>
          <a:lstStyle/>
          <a:p>
            <a:r>
              <a:rPr lang="en-US" sz="3500" b="1" dirty="0">
                <a:latin typeface="Helvetica" pitchFamily="2" charset="0"/>
              </a:rPr>
              <a:t>ACKNOWLEDGEMENTS</a:t>
            </a:r>
            <a:br>
              <a:rPr lang="en-US" sz="3500" b="1" dirty="0">
                <a:latin typeface="Helvetica" pitchFamily="2" charset="0"/>
              </a:rPr>
            </a:br>
            <a:r>
              <a:rPr lang="en-US" dirty="0">
                <a:latin typeface="Montserrat" pitchFamily="2" charset="77"/>
              </a:rPr>
              <a:t>Thank you to the course instructor Dr. John Lindsay for his guidance throughout the project. </a:t>
            </a:r>
          </a:p>
        </p:txBody>
      </p:sp>
    </p:spTree>
    <p:extLst>
      <p:ext uri="{BB962C8B-B14F-4D97-AF65-F5344CB8AC3E}">
        <p14:creationId xmlns:p14="http://schemas.microsoft.com/office/powerpoint/2010/main" val="23250394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223</TotalTime>
  <Words>712</Words>
  <Application>Microsoft Macintosh PowerPoint</Application>
  <PresentationFormat>Custom</PresentationFormat>
  <Paragraphs>25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Arial MT</vt:lpstr>
      <vt:lpstr>Helvetica</vt:lpstr>
      <vt:lpstr>Montserrat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Farah Sadoon</dc:creator>
  <cp:lastModifiedBy>Farah Sadoon</cp:lastModifiedBy>
  <cp:revision>4</cp:revision>
  <dcterms:created xsi:type="dcterms:W3CDTF">2026-03-30T19:33:52Z</dcterms:created>
  <dcterms:modified xsi:type="dcterms:W3CDTF">2026-03-31T17:32:40Z</dcterms:modified>
</cp:coreProperties>
</file>